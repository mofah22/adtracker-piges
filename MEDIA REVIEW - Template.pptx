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93" r:id="rId3"/>
    <p:sldId id="257" r:id="rId4"/>
    <p:sldId id="259" r:id="rId5"/>
    <p:sldId id="295" r:id="rId6"/>
    <p:sldId id="297" r:id="rId7"/>
    <p:sldId id="292" r:id="rId8"/>
    <p:sldId id="29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7C86"/>
    <a:srgbClr val="2563EB"/>
    <a:srgbClr val="C70A0C"/>
    <a:srgbClr val="FFB3B3"/>
    <a:srgbClr val="FF6D6D"/>
    <a:srgbClr val="EDF1F9"/>
    <a:srgbClr val="F59E0B"/>
    <a:srgbClr val="DC2626"/>
    <a:srgbClr val="6B7280"/>
    <a:srgbClr val="3D2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70A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F9-42E5-8E7E-058838DE2DC8}"/>
              </c:ext>
            </c:extLst>
          </c:dPt>
          <c:dPt>
            <c:idx val="3"/>
            <c:invertIfNegative val="0"/>
            <c:bubble3D val="0"/>
            <c:spPr>
              <a:solidFill>
                <a:srgbClr val="4FDA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1E-4575-959D-DC52A9854325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Sheet1!$B$2:$B$4</c:f>
              <c:numCache>
                <c:formatCode>_-* #\ ##0_-;\-* #\ ##0_-;_-* "-"??_-;_-@_-</c:formatCode>
                <c:ptCount val="3"/>
                <c:pt idx="0">
                  <c:v>42363150.840000026</c:v>
                </c:pt>
                <c:pt idx="1">
                  <c:v>30879790</c:v>
                </c:pt>
                <c:pt idx="2">
                  <c:v>39440163.399999991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1E-4575-959D-DC52A98543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0000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2B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1.6908212560386472E-2"/>
                <c:y val="6.8932243820645375E-2"/>
              </c:manualLayout>
            </c:layout>
          </c:dispUnitsLbl>
        </c:dispUnits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5400" cap="flat">
              <a:solidFill>
                <a:srgbClr val="B886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860B"/>
              </a:solidFill>
              <a:ln w="9525" cap="flat">
                <a:solidFill>
                  <a:srgbClr val="B8860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  <c:pt idx="6">
                  <c:v>Juil</c:v>
                </c:pt>
                <c:pt idx="7">
                  <c:v>Août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Déc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874-4D58-B1B0-B908B398D625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254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dLbls>
            <c:dLbl>
              <c:idx val="1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3B-4F2F-9B32-2D470F5E663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  <c:pt idx="6">
                  <c:v>Juil</c:v>
                </c:pt>
                <c:pt idx="7">
                  <c:v>Août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Déc</c:v>
                </c:pt>
              </c:strCache>
            </c:strRef>
          </c:cat>
          <c:val>
            <c:numRef>
              <c:f>Sheet1!$B$2:$B$13</c:f>
              <c:numCache>
                <c:formatCode>_-* #\ ##0_-;\-* #\ ##0_-;_-* "-"??_-;_-@_-</c:formatCode>
                <c:ptCount val="12"/>
                <c:pt idx="0">
                  <c:v>1093700</c:v>
                </c:pt>
                <c:pt idx="1">
                  <c:v>4038744</c:v>
                </c:pt>
                <c:pt idx="2">
                  <c:v>2814736</c:v>
                </c:pt>
                <c:pt idx="3">
                  <c:v>1121800</c:v>
                </c:pt>
                <c:pt idx="4">
                  <c:v>1334160</c:v>
                </c:pt>
                <c:pt idx="5">
                  <c:v>962992</c:v>
                </c:pt>
                <c:pt idx="6">
                  <c:v>988015</c:v>
                </c:pt>
                <c:pt idx="7">
                  <c:v>824132</c:v>
                </c:pt>
                <c:pt idx="8">
                  <c:v>416788</c:v>
                </c:pt>
                <c:pt idx="9">
                  <c:v>8593800.5399999991</c:v>
                </c:pt>
                <c:pt idx="10">
                  <c:v>16977573.300000001</c:v>
                </c:pt>
                <c:pt idx="11">
                  <c:v>3196710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874-4D58-B1B0-B908B398D625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25400" cap="flat">
              <a:solidFill>
                <a:srgbClr val="C70A0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70A0C"/>
              </a:solidFill>
              <a:ln w="9525" cap="flat">
                <a:solidFill>
                  <a:srgbClr val="C70A0C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  <c:pt idx="6">
                  <c:v>Juil</c:v>
                </c:pt>
                <c:pt idx="7">
                  <c:v>Août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Déc</c:v>
                </c:pt>
              </c:strCache>
            </c:strRef>
          </c:cat>
          <c:val>
            <c:numRef>
              <c:f>Sheet1!$C$2:$C$13</c:f>
              <c:numCache>
                <c:formatCode>_-* #\ ##0_-;\-* #\ ##0_-;_-* "-"??_-;_-@_-</c:formatCode>
                <c:ptCount val="12"/>
                <c:pt idx="0">
                  <c:v>4275211</c:v>
                </c:pt>
                <c:pt idx="1">
                  <c:v>1006875</c:v>
                </c:pt>
                <c:pt idx="2">
                  <c:v>1059468</c:v>
                </c:pt>
                <c:pt idx="3">
                  <c:v>1777387</c:v>
                </c:pt>
                <c:pt idx="4">
                  <c:v>2755575</c:v>
                </c:pt>
                <c:pt idx="5">
                  <c:v>2697610</c:v>
                </c:pt>
                <c:pt idx="6">
                  <c:v>1972099.5</c:v>
                </c:pt>
                <c:pt idx="7">
                  <c:v>1768232</c:v>
                </c:pt>
                <c:pt idx="8">
                  <c:v>2623222.5</c:v>
                </c:pt>
                <c:pt idx="9">
                  <c:v>4179960.5</c:v>
                </c:pt>
                <c:pt idx="10">
                  <c:v>3177005</c:v>
                </c:pt>
                <c:pt idx="11">
                  <c:v>3587144.5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5874-4D58-B1B0-B908B398D625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dLbls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3B-4F2F-9B32-2D470F5E663F}"/>
                </c:ext>
              </c:extLst>
            </c:dLbl>
            <c:dLbl>
              <c:idx val="1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D3B-4F2F-9B32-2D470F5E663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  <c:pt idx="6">
                  <c:v>Juil</c:v>
                </c:pt>
                <c:pt idx="7">
                  <c:v>Août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Déc</c:v>
                </c:pt>
              </c:strCache>
            </c:strRef>
          </c:cat>
          <c:val>
            <c:numRef>
              <c:f>Sheet1!$D$2:$D$13</c:f>
              <c:numCache>
                <c:formatCode>_-* #\ ##0_-;\-* #\ ##0_-;_-* "-"??_-;_-@_-</c:formatCode>
                <c:ptCount val="12"/>
                <c:pt idx="0">
                  <c:v>5177356</c:v>
                </c:pt>
                <c:pt idx="1">
                  <c:v>1540950</c:v>
                </c:pt>
                <c:pt idx="2">
                  <c:v>1753955</c:v>
                </c:pt>
                <c:pt idx="3">
                  <c:v>2459030</c:v>
                </c:pt>
                <c:pt idx="4">
                  <c:v>2179964.5</c:v>
                </c:pt>
                <c:pt idx="5">
                  <c:v>4577945</c:v>
                </c:pt>
                <c:pt idx="6">
                  <c:v>2383158</c:v>
                </c:pt>
                <c:pt idx="7">
                  <c:v>1478385</c:v>
                </c:pt>
                <c:pt idx="8">
                  <c:v>1964694</c:v>
                </c:pt>
                <c:pt idx="9">
                  <c:v>3303214.5</c:v>
                </c:pt>
                <c:pt idx="10">
                  <c:v>3207222.5</c:v>
                </c:pt>
                <c:pt idx="11">
                  <c:v>9414288.8999999985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5874-4D58-B1B0-B908B398D6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0000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2B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millions"/>
          <c:dispUnitsLbl/>
        </c:dispUnits>
      </c:valAx>
      <c:spPr>
        <a:noFill/>
        <a:ln w="25400">
          <a:noFill/>
        </a:ln>
        <a:effectLst/>
      </c:spPr>
    </c:plotArea>
    <c:legend>
      <c:legendPos val="t"/>
      <c:legendEntry>
        <c:idx val="0"/>
        <c:delete val="1"/>
      </c:legendEntry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AF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Feuil1!$B$2:$B$4</c:f>
              <c:numCache>
                <c:formatCode>0%</c:formatCode>
                <c:ptCount val="3"/>
                <c:pt idx="0">
                  <c:v>0.33622261204554055</c:v>
                </c:pt>
                <c:pt idx="1">
                  <c:v>0.20731518542270183</c:v>
                </c:pt>
                <c:pt idx="2">
                  <c:v>0.31252575620511963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E7-408A-B726-499EF8FD85BE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PR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E7-408A-B726-499EF8FD85B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0CE7-408A-B726-499EF8FD85BE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E7-408A-B726-499EF8FD85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Feuil1!$C$2:$C$4</c:f>
              <c:numCache>
                <c:formatCode>0%</c:formatCode>
                <c:ptCount val="3"/>
                <c:pt idx="0">
                  <c:v>0</c:v>
                </c:pt>
                <c:pt idx="1">
                  <c:v>0.13135490148382389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E7-408A-B726-499EF8FD85BE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RD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Feuil1!$D$2:$D$4</c:f>
              <c:numCache>
                <c:formatCode>0%</c:formatCode>
                <c:ptCount val="3"/>
                <c:pt idx="0">
                  <c:v>0.66377738795445951</c:v>
                </c:pt>
                <c:pt idx="1">
                  <c:v>0.66132991309347422</c:v>
                </c:pt>
                <c:pt idx="2">
                  <c:v>0.68747424379488031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CE7-408A-B726-499EF8FD85B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11188991"/>
        <c:axId val="311188031"/>
      </c:barChart>
      <c:catAx>
        <c:axId val="311188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311188031"/>
        <c:crosses val="autoZero"/>
        <c:auto val="1"/>
        <c:lblAlgn val="ctr"/>
        <c:lblOffset val="100"/>
        <c:noMultiLvlLbl val="0"/>
      </c:catAx>
      <c:valAx>
        <c:axId val="31118803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311188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tx2"/>
          </a:solidFill>
        </a:defRPr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>
                <a:solidFill>
                  <a:srgbClr val="3D2B1F"/>
                </a:solidFill>
              </a:defRPr>
            </a:pPr>
            <a:r>
              <a:rPr lang="fr-F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Classement annonceurs - 2023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0E7C86"/>
            </a:solidFill>
            <a:ln>
              <a:solidFill>
                <a:srgbClr val="0E7C86"/>
              </a:solidFill>
            </a:ln>
          </c:spPr>
          <c:invertIfNegative val="1"/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B38B-49D2-B8C5-F58E851C37FE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0-713D-49FD-914D-E50FB3C461EF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713D-49FD-914D-E50FB3C461EF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RAM</c:v>
                </c:pt>
                <c:pt idx="1">
                  <c:v>Emirates</c:v>
                </c:pt>
                <c:pt idx="2">
                  <c:v>AIR ARABIA</c:v>
                </c:pt>
                <c:pt idx="3">
                  <c:v>Qatar Airways</c:v>
                </c:pt>
                <c:pt idx="4">
                  <c:v>AIR CANADA</c:v>
                </c:pt>
                <c:pt idx="5">
                  <c:v>TUI FLY</c:v>
                </c:pt>
                <c:pt idx="6">
                  <c:v>AIR FRANCE</c:v>
                </c:pt>
                <c:pt idx="7">
                  <c:v>BINTER CANARIAS</c:v>
                </c:pt>
                <c:pt idx="8">
                  <c:v>BENGBIS AIRLINES</c:v>
                </c:pt>
              </c:strCache>
            </c:strRef>
          </c:cat>
          <c:val>
            <c:numRef>
              <c:f>Sheet1!$B$2:$B$10</c:f>
              <c:numCache>
                <c:formatCode>_-* #\ ##0_-;\-* #\ ##0_-;_-* "-"??_-;_-@_-</c:formatCode>
                <c:ptCount val="9"/>
                <c:pt idx="0">
                  <c:v>27815523.240000032</c:v>
                </c:pt>
                <c:pt idx="1">
                  <c:v>7956830.5999999987</c:v>
                </c:pt>
                <c:pt idx="2">
                  <c:v>3369278</c:v>
                </c:pt>
                <c:pt idx="3">
                  <c:v>1658699</c:v>
                </c:pt>
                <c:pt idx="4">
                  <c:v>744570</c:v>
                </c:pt>
                <c:pt idx="5">
                  <c:v>382750</c:v>
                </c:pt>
                <c:pt idx="6">
                  <c:v>259000</c:v>
                </c:pt>
                <c:pt idx="7">
                  <c:v>144000</c:v>
                </c:pt>
                <c:pt idx="8">
                  <c:v>32500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E7C8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41E-42B2-B69D-DBE211FC02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9000000"/>
          <c:min val="0"/>
        </c:scaling>
        <c:delete val="0"/>
        <c:axPos val="b"/>
        <c:majorGridlines>
          <c:spPr>
            <a:ln w="6350">
              <a:solidFill>
                <a:srgbClr val="DDDDDD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  <c:dispUnitsLbl>
            <c:txPr>
              <a:bodyPr/>
              <a:lstStyle/>
              <a:p>
                <a:pPr>
                  <a:defRPr sz="1600"/>
                </a:pPr>
                <a:endParaRPr lang="fr-FR"/>
              </a:p>
            </c:txPr>
          </c:dispUnitsLbl>
        </c:dispUnits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3D2B1F"/>
                </a:solidFill>
              </a:defRPr>
            </a:pPr>
            <a:r>
              <a:rPr lang="fr-F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Classement annonceurs - 2024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E7C86"/>
            </a:solidFill>
            <a:ln>
              <a:solidFill>
                <a:srgbClr val="0E7C86"/>
              </a:solidFill>
            </a:ln>
          </c:spPr>
          <c:invertIfNegative val="1"/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A705-47EB-B574-A567687C0A02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2-A705-47EB-B574-A567687C0A02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A705-47EB-B574-A567687C0A02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RAM</c:v>
                </c:pt>
                <c:pt idx="1">
                  <c:v>AIR ARABIA</c:v>
                </c:pt>
                <c:pt idx="2">
                  <c:v>Emirates</c:v>
                </c:pt>
                <c:pt idx="3">
                  <c:v>TURKISH AIRLINES</c:v>
                </c:pt>
                <c:pt idx="4">
                  <c:v>AIR COTE D'IVOIRE</c:v>
                </c:pt>
                <c:pt idx="5">
                  <c:v>TUI FLY</c:v>
                </c:pt>
                <c:pt idx="6">
                  <c:v>AIR FRANCE</c:v>
                </c:pt>
                <c:pt idx="7">
                  <c:v>AIR SÉNÉGAL</c:v>
                </c:pt>
                <c:pt idx="8">
                  <c:v>JETEX</c:v>
                </c:pt>
                <c:pt idx="9">
                  <c:v>ETIHAD AIRWAYS</c:v>
                </c:pt>
              </c:strCache>
            </c:strRef>
          </c:cat>
          <c:val>
            <c:numRef>
              <c:f>Sheet1!$B$2:$B$11</c:f>
              <c:numCache>
                <c:formatCode>_-* #\ ##0_-;\-* #\ ##0_-;_-* "-"??_-;_-@_-</c:formatCode>
                <c:ptCount val="10"/>
                <c:pt idx="0">
                  <c:v>9957050</c:v>
                </c:pt>
                <c:pt idx="1">
                  <c:v>8840789.5</c:v>
                </c:pt>
                <c:pt idx="2">
                  <c:v>5009726.5</c:v>
                </c:pt>
                <c:pt idx="3">
                  <c:v>4567274</c:v>
                </c:pt>
                <c:pt idx="4">
                  <c:v>928700</c:v>
                </c:pt>
                <c:pt idx="5">
                  <c:v>806750</c:v>
                </c:pt>
                <c:pt idx="6">
                  <c:v>624500</c:v>
                </c:pt>
                <c:pt idx="7">
                  <c:v>69000</c:v>
                </c:pt>
                <c:pt idx="8">
                  <c:v>60000</c:v>
                </c:pt>
                <c:pt idx="9">
                  <c:v>16000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E7C8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A705-47EB-B574-A567687C0A0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000000"/>
          <c:min val="0"/>
        </c:scaling>
        <c:delete val="0"/>
        <c:axPos val="b"/>
        <c:majorGridlines>
          <c:spPr>
            <a:ln w="6350">
              <a:solidFill>
                <a:srgbClr val="DDDDDD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  <c:dispUnitsLbl>
            <c:txPr>
              <a:bodyPr/>
              <a:lstStyle/>
              <a:p>
                <a:pPr>
                  <a:defRPr sz="1600"/>
                </a:pPr>
                <a:endParaRPr lang="fr-FR"/>
              </a:p>
            </c:txPr>
          </c:dispUnitsLbl>
        </c:dispUnits>
      </c:valAx>
      <c:spPr>
        <a:noFill/>
        <a:ln w="25400">
          <a:noFill/>
        </a:ln>
      </c:spPr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3D2B1F"/>
                </a:solidFill>
              </a:defRPr>
            </a:pPr>
            <a:r>
              <a:rPr lang="fr-F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Classement annonceurs - 2025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E7C86"/>
            </a:solidFill>
            <a:ln>
              <a:solidFill>
                <a:srgbClr val="0E7C86"/>
              </a:solidFill>
            </a:ln>
          </c:spPr>
          <c:invertIfNegative val="1"/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9E96-4CBB-A420-CDD3595E0D1A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2-9E96-4CBB-A420-CDD3595E0D1A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E96-4CBB-A420-CDD3595E0D1A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Sheet1!$A$2:$A$13</c:f>
              <c:strCache>
                <c:ptCount val="12"/>
                <c:pt idx="0">
                  <c:v>RAM</c:v>
                </c:pt>
                <c:pt idx="1">
                  <c:v>AIR ARABIA</c:v>
                </c:pt>
                <c:pt idx="2">
                  <c:v>Emirates</c:v>
                </c:pt>
                <c:pt idx="3">
                  <c:v>TURKISH AIRLINES</c:v>
                </c:pt>
                <c:pt idx="4">
                  <c:v>TUI FLY</c:v>
                </c:pt>
                <c:pt idx="5">
                  <c:v>JETEX</c:v>
                </c:pt>
                <c:pt idx="6">
                  <c:v>EGYPTAIR</c:v>
                </c:pt>
                <c:pt idx="7">
                  <c:v>ETIHAD AIRWAYS</c:v>
                </c:pt>
                <c:pt idx="8">
                  <c:v>AIR SÉNÉGAL</c:v>
                </c:pt>
                <c:pt idx="9">
                  <c:v>RAM HANDLING</c:v>
                </c:pt>
                <c:pt idx="10">
                  <c:v>JET LUXE</c:v>
                </c:pt>
                <c:pt idx="11">
                  <c:v>AIR FRANCE</c:v>
                </c:pt>
              </c:strCache>
            </c:strRef>
          </c:cat>
          <c:val>
            <c:numRef>
              <c:f>Sheet1!$B$2:$B$13</c:f>
              <c:numCache>
                <c:formatCode>_-* #\ ##0_-;\-* #\ ##0_-;_-* "-"??_-;_-@_-</c:formatCode>
                <c:ptCount val="12"/>
                <c:pt idx="0">
                  <c:v>19796740.899999995</c:v>
                </c:pt>
                <c:pt idx="1">
                  <c:v>7914468.5</c:v>
                </c:pt>
                <c:pt idx="2">
                  <c:v>5929835</c:v>
                </c:pt>
                <c:pt idx="3">
                  <c:v>3082369</c:v>
                </c:pt>
                <c:pt idx="4">
                  <c:v>1385250</c:v>
                </c:pt>
                <c:pt idx="5">
                  <c:v>587000</c:v>
                </c:pt>
                <c:pt idx="6">
                  <c:v>315500</c:v>
                </c:pt>
                <c:pt idx="7">
                  <c:v>204000</c:v>
                </c:pt>
                <c:pt idx="8">
                  <c:v>143000</c:v>
                </c:pt>
                <c:pt idx="9">
                  <c:v>42000</c:v>
                </c:pt>
                <c:pt idx="10">
                  <c:v>30000</c:v>
                </c:pt>
                <c:pt idx="11">
                  <c:v>10000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E7C8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9E96-4CBB-A420-CDD3595E0D1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0000000"/>
          <c:min val="0"/>
        </c:scaling>
        <c:delete val="0"/>
        <c:axPos val="b"/>
        <c:majorGridlines>
          <c:spPr>
            <a:ln w="6350">
              <a:solidFill>
                <a:srgbClr val="DDDDDD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  <c:dispUnitsLbl>
            <c:txPr>
              <a:bodyPr/>
              <a:lstStyle/>
              <a:p>
                <a:pPr>
                  <a:defRPr sz="1600"/>
                </a:pPr>
                <a:endParaRPr lang="fr-FR"/>
              </a:p>
            </c:txPr>
          </c:dispUnitsLbl>
        </c:dispUnits>
      </c:valAx>
      <c:spPr>
        <a:noFill/>
        <a:ln w="25400">
          <a:noFill/>
        </a:ln>
      </c:spPr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2000"/>
            </a:pPr>
            <a:r>
              <a:rPr lang="fr-FR" dirty="0"/>
              <a:t>AF (M MAD)</a:t>
            </a:r>
          </a:p>
        </c:rich>
      </c:tx>
      <c:layout>
        <c:manualLayout>
          <c:xMode val="edge"/>
          <c:yMode val="edge"/>
          <c:x val="0.35856473556747437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OOH (M MAD)</c:v>
                </c:pt>
              </c:strCache>
            </c:strRef>
          </c:tx>
          <c:spPr>
            <a:solidFill>
              <a:srgbClr val="007E79"/>
            </a:solidFill>
            <a:ln>
              <a:solidFill>
                <a:srgbClr val="007E79"/>
              </a:solidFill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4839-487F-98F1-927C271EA71E}"/>
              </c:ext>
            </c:extLst>
          </c:dPt>
          <c:dPt>
            <c:idx val="3"/>
            <c:invertIfNegative val="1"/>
            <c:bubble3D val="0"/>
            <c:spPr>
              <a:solidFill>
                <a:srgbClr val="3D2B1F"/>
              </a:solidFill>
              <a:ln>
                <a:solidFill>
                  <a:srgbClr val="007E7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1D11-476C-A663-A2204D4CB070}"/>
              </c:ext>
            </c:extLst>
          </c:dPt>
          <c:dLbls>
            <c:numFmt formatCode="0.0&quot; 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_-* #\ ##0_-;\-* #\ ##0_-;_-* "-"??_-;_-@_-</c:formatCode>
                <c:ptCount val="3"/>
                <c:pt idx="0">
                  <c:v>9785000</c:v>
                </c:pt>
                <c:pt idx="1">
                  <c:v>11454000</c:v>
                </c:pt>
                <c:pt idx="2">
                  <c:v>10460750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E7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70D-48E3-8E43-BC1AA29E4A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  <c:dispUnitsLbl>
            <c:txPr>
              <a:bodyPr/>
              <a:lstStyle/>
              <a:p>
                <a:pPr>
                  <a:defRPr sz="1400"/>
                </a:pPr>
                <a:endParaRPr lang="fr-FR"/>
              </a:p>
            </c:txPr>
          </c:dispUnitsLbl>
        </c:dispUnits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AF</c:v>
                </c:pt>
              </c:strCache>
            </c:strRef>
          </c:tx>
          <c:spPr>
            <a:solidFill>
              <a:srgbClr val="0E7C86"/>
            </a:solidFill>
            <a:ln>
              <a:solidFill>
                <a:srgbClr val="007E79"/>
              </a:solidFill>
            </a:ln>
          </c:spPr>
          <c:invertIfNegative val="1"/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831E-45B1-87D4-7C27005F88DD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2-831E-45B1-87D4-7C27005F88DD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AIR ARABIA</c:v>
                </c:pt>
                <c:pt idx="1">
                  <c:v>RAM</c:v>
                </c:pt>
                <c:pt idx="2">
                  <c:v>TUI FLY</c:v>
                </c:pt>
                <c:pt idx="3">
                  <c:v>Emirates</c:v>
                </c:pt>
                <c:pt idx="4">
                  <c:v>JETEX</c:v>
                </c:pt>
                <c:pt idx="5">
                  <c:v>EGYPTAIR</c:v>
                </c:pt>
                <c:pt idx="6">
                  <c:v>ETIHAD AIRWAYS</c:v>
                </c:pt>
                <c:pt idx="7">
                  <c:v>AIR SÉNÉGAL</c:v>
                </c:pt>
                <c:pt idx="8">
                  <c:v>JET LUXE</c:v>
                </c:pt>
                <c:pt idx="9">
                  <c:v>AIR FRANCE</c:v>
                </c:pt>
              </c:strCache>
            </c:strRef>
          </c:cat>
          <c:val>
            <c:numRef>
              <c:f>Sheet1!$B$2:$B$11</c:f>
              <c:numCache>
                <c:formatCode>_-* #\ ##0_-;\-* #\ ##0_-;_-* "-"??_-;_-@_-</c:formatCode>
                <c:ptCount val="10"/>
                <c:pt idx="0">
                  <c:v>4900250</c:v>
                </c:pt>
                <c:pt idx="1">
                  <c:v>2060000</c:v>
                </c:pt>
                <c:pt idx="2">
                  <c:v>1385250</c:v>
                </c:pt>
                <c:pt idx="3">
                  <c:v>920750</c:v>
                </c:pt>
                <c:pt idx="4">
                  <c:v>492000</c:v>
                </c:pt>
                <c:pt idx="5">
                  <c:v>315500</c:v>
                </c:pt>
                <c:pt idx="6">
                  <c:v>204000</c:v>
                </c:pt>
                <c:pt idx="7">
                  <c:v>143000</c:v>
                </c:pt>
                <c:pt idx="8">
                  <c:v>30000</c:v>
                </c:pt>
                <c:pt idx="9">
                  <c:v>10000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E7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31E-45B1-87D4-7C27005F88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500000"/>
          <c:min val="0"/>
        </c:scaling>
        <c:delete val="0"/>
        <c:axPos val="l"/>
        <c:numFmt formatCode="#,##0.0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  <c:dispUnitsLbl>
            <c:txPr>
              <a:bodyPr/>
              <a:lstStyle/>
              <a:p>
                <a:pPr>
                  <a:defRPr sz="1400"/>
                </a:pPr>
                <a:endParaRPr lang="fr-FR"/>
              </a:p>
            </c:txPr>
          </c:dispUnitsLbl>
        </c:dispUnits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OOH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9249-4492-9491-BBB50219AD0B}"/>
              </c:ext>
            </c:extLst>
          </c:dPt>
          <c:dPt>
            <c:idx val="1"/>
            <c:bubble3D val="0"/>
            <c:spPr>
              <a:solidFill>
                <a:srgbClr val="2563EB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9249-4492-9491-BBB50219AD0B}"/>
              </c:ext>
            </c:extLst>
          </c:dPt>
          <c:dPt>
            <c:idx val="2"/>
            <c:bubble3D val="0"/>
            <c:spPr>
              <a:solidFill>
                <a:srgbClr val="0E7C86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9249-4492-9491-BBB50219AD0B}"/>
              </c:ext>
            </c:extLst>
          </c:dPt>
          <c:dPt>
            <c:idx val="3"/>
            <c:bubble3D val="0"/>
            <c:spPr>
              <a:solidFill>
                <a:schemeClr val="bg2">
                  <a:lumMod val="75000"/>
                </a:schemeClr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9249-4492-9491-BBB50219AD0B}"/>
              </c:ext>
            </c:extLst>
          </c:dPt>
          <c:dPt>
            <c:idx val="4"/>
            <c:bubble3D val="0"/>
            <c:spPr>
              <a:solidFill>
                <a:srgbClr val="FF6D6D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9249-4492-9491-BBB50219AD0B}"/>
              </c:ext>
            </c:extLst>
          </c:dPt>
          <c:dPt>
            <c:idx val="5"/>
            <c:bubble3D val="0"/>
            <c:spPr>
              <a:solidFill>
                <a:srgbClr val="00B0F0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9249-4492-9491-BBB50219AD0B}"/>
              </c:ext>
            </c:extLst>
          </c:dPt>
          <c:dPt>
            <c:idx val="6"/>
            <c:bubble3D val="0"/>
            <c:spPr>
              <a:solidFill>
                <a:srgbClr val="FFB3B3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9249-4492-9491-BBB50219AD0B}"/>
              </c:ext>
            </c:extLst>
          </c:dPt>
          <c:dPt>
            <c:idx val="7"/>
            <c:bubble3D val="0"/>
            <c:spPr>
              <a:solidFill>
                <a:srgbClr val="EAF2F4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9249-4492-9491-BBB50219AD0B}"/>
              </c:ext>
            </c:extLst>
          </c:dPt>
          <c:dPt>
            <c:idx val="8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9249-4492-9491-BBB50219AD0B}"/>
              </c:ext>
            </c:extLst>
          </c:dPt>
          <c:dPt>
            <c:idx val="9"/>
            <c:bubble3D val="0"/>
            <c:spPr>
              <a:solidFill>
                <a:srgbClr val="BED2CE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3-9249-4492-9491-BBB50219AD0B}"/>
              </c:ext>
            </c:extLst>
          </c:dPt>
          <c:dLbls>
            <c:dLbl>
              <c:idx val="0"/>
              <c:layout>
                <c:manualLayout>
                  <c:x val="-7.7917182753841255E-2"/>
                  <c:y val="3.950562237952527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249-4492-9491-BBB50219AD0B}"/>
                </c:ext>
              </c:extLst>
            </c:dLbl>
            <c:dLbl>
              <c:idx val="7"/>
              <c:layout>
                <c:manualLayout>
                  <c:x val="2.3930593647704151E-2"/>
                  <c:y val="3.501992591796500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249-4492-9491-BBB50219AD0B}"/>
                </c:ext>
              </c:extLst>
            </c:dLbl>
            <c:dLbl>
              <c:idx val="8"/>
              <c:layout>
                <c:manualLayout>
                  <c:x val="9.6296337255595867E-3"/>
                  <c:y val="-7.6716312338663182E-4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249-4492-9491-BBB50219AD0B}"/>
                </c:ext>
              </c:extLst>
            </c:dLbl>
            <c:dLbl>
              <c:idx val="9"/>
              <c:layout>
                <c:manualLayout>
                  <c:x val="2.5808966646023137E-2"/>
                  <c:y val="-2.127976086804179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249-4492-9491-BBB50219AD0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249-4492-9491-BBB50219AD0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9249-4492-9491-BBB50219AD0B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9249-4492-9491-BBB50219AD0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249-4492-9491-BBB50219AD0B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9249-4492-9491-BBB50219AD0B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9249-4492-9491-BBB50219AD0B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9249-4492-9491-BBB50219AD0B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9249-4492-9491-BBB50219AD0B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9249-4492-9491-BBB50219AD0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0B2B3A"/>
                    </a:solidFill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Sheet1!$A$2:$A$13</c:f>
              <c:strCache>
                <c:ptCount val="12"/>
                <c:pt idx="0">
                  <c:v>CASABLANCA</c:v>
                </c:pt>
                <c:pt idx="1">
                  <c:v>OUJDA</c:v>
                </c:pt>
                <c:pt idx="2">
                  <c:v>MARRAKECH</c:v>
                </c:pt>
                <c:pt idx="3">
                  <c:v>TETOUAN</c:v>
                </c:pt>
                <c:pt idx="4">
                  <c:v>NADOR</c:v>
                </c:pt>
                <c:pt idx="5">
                  <c:v>RABAT</c:v>
                </c:pt>
                <c:pt idx="6">
                  <c:v>TANGER</c:v>
                </c:pt>
                <c:pt idx="7">
                  <c:v>FES</c:v>
                </c:pt>
                <c:pt idx="8">
                  <c:v>NOUASSER</c:v>
                </c:pt>
                <c:pt idx="9">
                  <c:v>AGADIR</c:v>
                </c:pt>
                <c:pt idx="10">
                  <c:v>ESSAOUIRA</c:v>
                </c:pt>
                <c:pt idx="11">
                  <c:v>AUTOROUTES</c:v>
                </c:pt>
              </c:strCache>
            </c:strRef>
          </c:cat>
          <c:val>
            <c:numRef>
              <c:f>Sheet1!$B$2:$B$13</c:f>
              <c:numCache>
                <c:formatCode>_-* #\ ##0_-;\-* #\ ##0_-;_-* "-"??_-;_-@_-</c:formatCode>
                <c:ptCount val="12"/>
                <c:pt idx="0">
                  <c:v>3533500</c:v>
                </c:pt>
                <c:pt idx="1">
                  <c:v>1275500</c:v>
                </c:pt>
                <c:pt idx="2">
                  <c:v>918500</c:v>
                </c:pt>
                <c:pt idx="3">
                  <c:v>888250</c:v>
                </c:pt>
                <c:pt idx="4">
                  <c:v>825000</c:v>
                </c:pt>
                <c:pt idx="5">
                  <c:v>820000</c:v>
                </c:pt>
                <c:pt idx="6">
                  <c:v>666000</c:v>
                </c:pt>
                <c:pt idx="7">
                  <c:v>611500</c:v>
                </c:pt>
                <c:pt idx="8">
                  <c:v>605000</c:v>
                </c:pt>
                <c:pt idx="9">
                  <c:v>192000</c:v>
                </c:pt>
                <c:pt idx="10">
                  <c:v>103500</c:v>
                </c:pt>
                <c:pt idx="11">
                  <c:v>22000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9249-4492-9491-BBB50219A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582091037777581"/>
          <c:y val="9.4911847957448656E-3"/>
          <c:w val="0.21214260963166121"/>
          <c:h val="0.90910838187183707"/>
        </c:manualLayout>
      </c:layout>
      <c:overlay val="0"/>
      <c:txPr>
        <a:bodyPr/>
        <a:lstStyle/>
        <a:p>
          <a:pPr>
            <a:defRPr sz="100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620425454580995"/>
          <c:y val="0.19808181166064379"/>
          <c:w val="0.33515870467358538"/>
          <c:h val="0.7602773727602967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RD</c:v>
                </c:pt>
              </c:strCache>
            </c:strRef>
          </c:tx>
          <c:dPt>
            <c:idx val="0"/>
            <c:bubble3D val="0"/>
            <c:spPr>
              <a:solidFill>
                <a:srgbClr val="C70A0C"/>
              </a:solidFill>
              <a:ln>
                <a:solidFill>
                  <a:srgbClr val="C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67B-44D2-BDDE-5C7319620E2C}"/>
              </c:ext>
            </c:extLst>
          </c:dPt>
          <c:dPt>
            <c:idx val="1"/>
            <c:bubble3D val="0"/>
            <c:spPr>
              <a:solidFill>
                <a:srgbClr val="2563EB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67B-44D2-BDDE-5C7319620E2C}"/>
              </c:ext>
            </c:extLst>
          </c:dPt>
          <c:dPt>
            <c:idx val="2"/>
            <c:bubble3D val="0"/>
            <c:spPr>
              <a:solidFill>
                <a:srgbClr val="0E7C86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67B-44D2-BDDE-5C7319620E2C}"/>
              </c:ext>
            </c:extLst>
          </c:dPt>
          <c:dPt>
            <c:idx val="3"/>
            <c:bubble3D val="0"/>
            <c:spPr>
              <a:solidFill>
                <a:schemeClr val="bg2">
                  <a:lumMod val="75000"/>
                </a:schemeClr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A67B-44D2-BDDE-5C7319620E2C}"/>
              </c:ext>
            </c:extLst>
          </c:dPt>
          <c:dPt>
            <c:idx val="4"/>
            <c:bubble3D val="0"/>
            <c:spPr>
              <a:solidFill>
                <a:srgbClr val="FF6D6D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A67B-44D2-BDDE-5C7319620E2C}"/>
              </c:ext>
            </c:extLst>
          </c:dPt>
          <c:dPt>
            <c:idx val="5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A67B-44D2-BDDE-5C7319620E2C}"/>
              </c:ext>
            </c:extLst>
          </c:dPt>
          <c:dPt>
            <c:idx val="6"/>
            <c:bubble3D val="0"/>
            <c:spPr>
              <a:solidFill>
                <a:srgbClr val="B1E5EF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A67B-44D2-BDDE-5C7319620E2C}"/>
              </c:ext>
            </c:extLst>
          </c:dPt>
          <c:dPt>
            <c:idx val="7"/>
            <c:bubble3D val="0"/>
            <c:spPr>
              <a:solidFill>
                <a:srgbClr val="EAF2F4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A67B-44D2-BDDE-5C7319620E2C}"/>
              </c:ext>
            </c:extLst>
          </c:dPt>
          <c:dPt>
            <c:idx val="8"/>
            <c:bubble3D val="0"/>
            <c:spPr>
              <a:solidFill>
                <a:srgbClr val="D2E6E1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A67B-44D2-BDDE-5C7319620E2C}"/>
              </c:ext>
            </c:extLst>
          </c:dPt>
          <c:dPt>
            <c:idx val="9"/>
            <c:bubble3D val="0"/>
            <c:spPr>
              <a:solidFill>
                <a:srgbClr val="BED2CE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3-A67B-44D2-BDDE-5C7319620E2C}"/>
              </c:ext>
            </c:extLst>
          </c:dPt>
          <c:dPt>
            <c:idx val="11"/>
            <c:bubble3D val="0"/>
            <c:spPr>
              <a:solidFill>
                <a:srgbClr val="FFB3B3"/>
              </a:solidFill>
            </c:spPr>
            <c:extLst>
              <c:ext xmlns:c16="http://schemas.microsoft.com/office/drawing/2014/chart" uri="{C3380CC4-5D6E-409C-BE32-E72D297353CC}">
                <c16:uniqueId val="{00000014-A67B-44D2-BDDE-5C7319620E2C}"/>
              </c:ext>
            </c:extLst>
          </c:dPt>
          <c:dLbls>
            <c:dLbl>
              <c:idx val="7"/>
              <c:layout>
                <c:manualLayout>
                  <c:x val="2.3930593647704151E-2"/>
                  <c:y val="3.501992591796500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67B-44D2-BDDE-5C7319620E2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67B-44D2-BDDE-5C7319620E2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A67B-44D2-BDDE-5C7319620E2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67B-44D2-BDDE-5C7319620E2C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A67B-44D2-BDDE-5C7319620E2C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67B-44D2-BDDE-5C7319620E2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A67B-44D2-BDDE-5C7319620E2C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A67B-44D2-BDDE-5C7319620E2C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A67B-44D2-BDDE-5C7319620E2C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A67B-44D2-BDDE-5C7319620E2C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A67B-44D2-BDDE-5C7319620E2C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A67B-44D2-BDDE-5C7319620E2C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A67B-44D2-BDDE-5C7319620E2C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A67B-44D2-BDDE-5C7319620E2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0B2B3A"/>
                    </a:solidFill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Sheet1!$A$2:$A$16</c:f>
              <c:strCache>
                <c:ptCount val="15"/>
                <c:pt idx="0">
                  <c:v>luxe_radio</c:v>
                </c:pt>
                <c:pt idx="1">
                  <c:v>medina_fm</c:v>
                </c:pt>
                <c:pt idx="2">
                  <c:v>cap_radio</c:v>
                </c:pt>
                <c:pt idx="3">
                  <c:v>casa_fm</c:v>
                </c:pt>
                <c:pt idx="4">
                  <c:v>medi1</c:v>
                </c:pt>
                <c:pt idx="5">
                  <c:v>hit_radio</c:v>
                </c:pt>
                <c:pt idx="6">
                  <c:v>medradio</c:v>
                </c:pt>
                <c:pt idx="7">
                  <c:v>atlantic_radio</c:v>
                </c:pt>
                <c:pt idx="8">
                  <c:v>uradio_ma</c:v>
                </c:pt>
                <c:pt idx="9">
                  <c:v>radio_mars</c:v>
                </c:pt>
                <c:pt idx="10">
                  <c:v>chada_fm</c:v>
                </c:pt>
                <c:pt idx="11">
                  <c:v>aswat</c:v>
                </c:pt>
                <c:pt idx="12">
                  <c:v>r2m</c:v>
                </c:pt>
                <c:pt idx="13">
                  <c:v>radio_plus</c:v>
                </c:pt>
                <c:pt idx="14">
                  <c:v>snrt_cnat</c:v>
                </c:pt>
              </c:strCache>
            </c:strRef>
          </c:cat>
          <c:val>
            <c:numRef>
              <c:f>Sheet1!$B$2:$B$16</c:f>
              <c:numCache>
                <c:formatCode>_-* #\ ##0_-;\-* #\ ##0_-;_-* "-"??_-;_-@_-</c:formatCode>
                <c:ptCount val="15"/>
                <c:pt idx="0">
                  <c:v>7765330</c:v>
                </c:pt>
                <c:pt idx="1">
                  <c:v>4986970</c:v>
                </c:pt>
                <c:pt idx="2">
                  <c:v>3708917</c:v>
                </c:pt>
                <c:pt idx="3">
                  <c:v>2765551</c:v>
                </c:pt>
                <c:pt idx="4">
                  <c:v>2058283.5</c:v>
                </c:pt>
                <c:pt idx="5">
                  <c:v>1020046</c:v>
                </c:pt>
                <c:pt idx="6">
                  <c:v>486988</c:v>
                </c:pt>
                <c:pt idx="7">
                  <c:v>350359</c:v>
                </c:pt>
                <c:pt idx="8">
                  <c:v>255000</c:v>
                </c:pt>
                <c:pt idx="9">
                  <c:v>245612</c:v>
                </c:pt>
                <c:pt idx="10">
                  <c:v>179634</c:v>
                </c:pt>
                <c:pt idx="11">
                  <c:v>127448.99999999993</c:v>
                </c:pt>
                <c:pt idx="12">
                  <c:v>126991</c:v>
                </c:pt>
                <c:pt idx="13">
                  <c:v>104500</c:v>
                </c:pt>
                <c:pt idx="14">
                  <c:v>69120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A67B-44D2-BDDE-5C7319620E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4667289825864172"/>
          <c:y val="3.8924333869941458E-2"/>
          <c:w val="0.16615084995973545"/>
          <c:h val="0.95865413245990894"/>
        </c:manualLayout>
      </c:layout>
      <c:overlay val="0"/>
      <c:txPr>
        <a:bodyPr/>
        <a:lstStyle/>
        <a:p>
          <a:pPr>
            <a:defRPr sz="100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fr-FR" dirty="0"/>
              <a:t>RADIO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RD</c:v>
                </c:pt>
              </c:strCache>
            </c:strRef>
          </c:tx>
          <c:spPr>
            <a:solidFill>
              <a:srgbClr val="0E7C86"/>
            </a:solidFill>
            <a:ln>
              <a:solidFill>
                <a:srgbClr val="007E79"/>
              </a:solidFill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6EB6-436E-8FAE-E2E08CB42AC8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0-5CB9-466A-B4C4-1178EA8C0E2E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5CB9-466A-B4C4-1178EA8C0E2E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RAM</c:v>
                </c:pt>
                <c:pt idx="1">
                  <c:v>Emirates</c:v>
                </c:pt>
                <c:pt idx="2">
                  <c:v>TURKISH AIRLINES</c:v>
                </c:pt>
                <c:pt idx="3">
                  <c:v>AIR ARABIA</c:v>
                </c:pt>
              </c:strCache>
            </c:strRef>
          </c:cat>
          <c:val>
            <c:numRef>
              <c:f>Sheet1!$B$2:$B$5</c:f>
              <c:numCache>
                <c:formatCode>_-* #\ ##0_-;\-* #\ ##0_-;_-* "-"??_-;_-@_-</c:formatCode>
                <c:ptCount val="4"/>
                <c:pt idx="0">
                  <c:v>13432078.000000009</c:v>
                </c:pt>
                <c:pt idx="1">
                  <c:v>4753085</c:v>
                </c:pt>
                <c:pt idx="2">
                  <c:v>3051369</c:v>
                </c:pt>
                <c:pt idx="3">
                  <c:v>3014218.5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E7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CB9-466A-B4C4-1178EA8C0E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000000"/>
          <c:min val="0"/>
        </c:scaling>
        <c:delete val="0"/>
        <c:axPos val="l"/>
        <c:numFmt formatCode="#,##0.0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  <c:dispUnitsLbl>
            <c:txPr>
              <a:bodyPr/>
              <a:lstStyle/>
              <a:p>
                <a:pPr>
                  <a:defRPr sz="1400"/>
                </a:pPr>
                <a:endParaRPr lang="fr-FR"/>
              </a:p>
            </c:txPr>
          </c:dispUnitsLbl>
        </c:dispUnits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/>
            </a:pPr>
            <a:r>
              <a:rPr lang="en-US" sz="2000" dirty="0"/>
              <a:t>RADIO</a:t>
            </a:r>
          </a:p>
        </c:rich>
      </c:tx>
      <c:layout>
        <c:manualLayout>
          <c:xMode val="edge"/>
          <c:yMode val="edge"/>
          <c:x val="0.47187379369162974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RD</c:v>
                </c:pt>
              </c:strCache>
            </c:strRef>
          </c:tx>
          <c:spPr>
            <a:solidFill>
              <a:srgbClr val="007E79"/>
            </a:solidFill>
            <a:ln>
              <a:solidFill>
                <a:srgbClr val="007E79"/>
              </a:solidFill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F5F-41A7-ADB4-50EE96819CC4}"/>
              </c:ext>
            </c:extLst>
          </c:dPt>
          <c:dPt>
            <c:idx val="3"/>
            <c:invertIfNegative val="1"/>
            <c:bubble3D val="0"/>
            <c:spPr>
              <a:solidFill>
                <a:srgbClr val="3D2B1F"/>
              </a:solidFill>
              <a:ln>
                <a:solidFill>
                  <a:srgbClr val="007E7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5F5F-41A7-ADB4-50EE96819CC4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Sheet1!$B$2:$B$4</c:f>
              <c:numCache>
                <c:formatCode>_-* #\ ##0_-;\-* #\ ##0_-;_-* "-"??_-;_-@_-</c:formatCode>
                <c:ptCount val="3"/>
                <c:pt idx="0">
                  <c:v>19023041.24000001</c:v>
                </c:pt>
                <c:pt idx="1">
                  <c:v>18794590</c:v>
                </c:pt>
                <c:pt idx="2">
                  <c:v>24250750.499999993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E7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5F5F-41A7-ADB4-50EE96819C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000000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</c:dispUnits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620425454580995"/>
          <c:y val="0.19808181166064379"/>
          <c:w val="0.33515870467358538"/>
          <c:h val="0.7602773727602967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</c:v>
                </c:pt>
              </c:strCache>
            </c:strRef>
          </c:tx>
          <c:dPt>
            <c:idx val="0"/>
            <c:bubble3D val="0"/>
            <c:spPr>
              <a:solidFill>
                <a:srgbClr val="C70A0C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C6B-4BF6-91E7-C239784C57B7}"/>
              </c:ext>
            </c:extLst>
          </c:dPt>
          <c:dPt>
            <c:idx val="1"/>
            <c:bubble3D val="0"/>
            <c:spPr>
              <a:solidFill>
                <a:srgbClr val="2563EB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C6B-4BF6-91E7-C239784C57B7}"/>
              </c:ext>
            </c:extLst>
          </c:dPt>
          <c:dPt>
            <c:idx val="2"/>
            <c:bubble3D val="0"/>
            <c:spPr>
              <a:solidFill>
                <a:srgbClr val="0E7C86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C6B-4BF6-91E7-C239784C57B7}"/>
              </c:ext>
            </c:extLst>
          </c:dPt>
          <c:dPt>
            <c:idx val="3"/>
            <c:bubble3D val="0"/>
            <c:spPr>
              <a:solidFill>
                <a:schemeClr val="bg2">
                  <a:lumMod val="75000"/>
                </a:schemeClr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C6B-4BF6-91E7-C239784C57B7}"/>
              </c:ext>
            </c:extLst>
          </c:dPt>
          <c:dPt>
            <c:idx val="4"/>
            <c:bubble3D val="0"/>
            <c:spPr>
              <a:solidFill>
                <a:srgbClr val="FF6D6D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2C6B-4BF6-91E7-C239784C57B7}"/>
              </c:ext>
            </c:extLst>
          </c:dPt>
          <c:dPt>
            <c:idx val="5"/>
            <c:bubble3D val="0"/>
            <c:spPr>
              <a:solidFill>
                <a:srgbClr val="00B0F0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2C6B-4BF6-91E7-C239784C57B7}"/>
              </c:ext>
            </c:extLst>
          </c:dPt>
          <c:dPt>
            <c:idx val="6"/>
            <c:bubble3D val="0"/>
            <c:spPr>
              <a:solidFill>
                <a:srgbClr val="B1E5EF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2C6B-4BF6-91E7-C239784C57B7}"/>
              </c:ext>
            </c:extLst>
          </c:dPt>
          <c:dPt>
            <c:idx val="7"/>
            <c:bubble3D val="0"/>
            <c:spPr>
              <a:solidFill>
                <a:srgbClr val="EAF2F4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2C6B-4BF6-91E7-C239784C57B7}"/>
              </c:ext>
            </c:extLst>
          </c:dPt>
          <c:dPt>
            <c:idx val="8"/>
            <c:bubble3D val="0"/>
            <c:spPr>
              <a:solidFill>
                <a:srgbClr val="D2E6E1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2C6B-4BF6-91E7-C239784C57B7}"/>
              </c:ext>
            </c:extLst>
          </c:dPt>
          <c:dPt>
            <c:idx val="9"/>
            <c:bubble3D val="0"/>
            <c:spPr>
              <a:solidFill>
                <a:srgbClr val="BED2CE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3-2C6B-4BF6-91E7-C239784C57B7}"/>
              </c:ext>
            </c:extLst>
          </c:dPt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C6B-4BF6-91E7-C239784C57B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C6B-4BF6-91E7-C239784C57B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C6B-4BF6-91E7-C239784C57B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2C6B-4BF6-91E7-C239784C57B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2C6B-4BF6-91E7-C239784C57B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2C6B-4BF6-91E7-C239784C57B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2C6B-4BF6-91E7-C239784C57B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2C6B-4BF6-91E7-C239784C57B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2C6B-4BF6-91E7-C239784C57B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2C6B-4BF6-91E7-C239784C57B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2C6B-4BF6-91E7-C239784C57B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2C6B-4BF6-91E7-C239784C57B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2C6B-4BF6-91E7-C239784C57B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2C6B-4BF6-91E7-C239784C57B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2C6B-4BF6-91E7-C239784C57B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2C6B-4BF6-91E7-C239784C57B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0B2B3A"/>
                    </a:solidFill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2m</c:v>
                </c:pt>
                <c:pt idx="1">
                  <c:v>al_aoula</c:v>
                </c:pt>
                <c:pt idx="2">
                  <c:v>telemaroc</c:v>
                </c:pt>
                <c:pt idx="3">
                  <c:v>medi1sat</c:v>
                </c:pt>
                <c:pt idx="4">
                  <c:v>mbc5</c:v>
                </c:pt>
                <c:pt idx="5">
                  <c:v>arriyadia</c:v>
                </c:pt>
                <c:pt idx="6">
                  <c:v>chada_fm</c:v>
                </c:pt>
                <c:pt idx="7">
                  <c:v>tamazigh_tnt</c:v>
                </c:pt>
                <c:pt idx="8">
                  <c:v>al_maghribiya</c:v>
                </c:pt>
                <c:pt idx="9">
                  <c:v>arrabia</c:v>
                </c:pt>
              </c:strCache>
            </c:strRef>
          </c:cat>
          <c:val>
            <c:numRef>
              <c:f>Sheet1!$B$2:$B$11</c:f>
              <c:numCache>
                <c:formatCode>_-* #\ ##0_-;\-* #\ ##0_-;_-* "-"??_-;_-@_-</c:formatCode>
                <c:ptCount val="10"/>
                <c:pt idx="0">
                  <c:v>218900934.50000054</c:v>
                </c:pt>
                <c:pt idx="1">
                  <c:v>57822576</c:v>
                </c:pt>
                <c:pt idx="2">
                  <c:v>15374899</c:v>
                </c:pt>
                <c:pt idx="3">
                  <c:v>11478471.239999983</c:v>
                </c:pt>
                <c:pt idx="4">
                  <c:v>4458124</c:v>
                </c:pt>
                <c:pt idx="5">
                  <c:v>4167966</c:v>
                </c:pt>
                <c:pt idx="6">
                  <c:v>2528970</c:v>
                </c:pt>
                <c:pt idx="7">
                  <c:v>1144263.55</c:v>
                </c:pt>
                <c:pt idx="8">
                  <c:v>193888</c:v>
                </c:pt>
                <c:pt idx="9">
                  <c:v>18400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2C6B-4BF6-91E7-C239784C5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443421171437359"/>
          <c:y val="0.16144814905280847"/>
          <c:w val="0.16848156823939375"/>
          <c:h val="0.73588355940015071"/>
        </c:manualLayout>
      </c:layout>
      <c:overlay val="0"/>
      <c:txPr>
        <a:bodyPr/>
        <a:lstStyle/>
        <a:p>
          <a:pPr>
            <a:defRPr sz="100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/>
            </a:pPr>
            <a:r>
              <a:rPr lang="fr-FR" dirty="0"/>
              <a:t>TV (M MAD)</a:t>
            </a:r>
          </a:p>
        </c:rich>
      </c:tx>
      <c:layout>
        <c:manualLayout>
          <c:xMode val="edge"/>
          <c:yMode val="edge"/>
          <c:x val="0.35856473556747437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rgbClr val="007E79"/>
            </a:solidFill>
            <a:ln>
              <a:solidFill>
                <a:srgbClr val="007E79"/>
              </a:solidFill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4EBA-496E-BF93-0584CB35DCC2}"/>
              </c:ext>
            </c:extLst>
          </c:dPt>
          <c:dPt>
            <c:idx val="3"/>
            <c:invertIfNegative val="1"/>
            <c:bubble3D val="0"/>
            <c:spPr>
              <a:solidFill>
                <a:srgbClr val="3D2B1F"/>
              </a:solidFill>
              <a:ln>
                <a:solidFill>
                  <a:srgbClr val="007E7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4EBA-496E-BF93-0584CB35DCC2}"/>
              </c:ext>
            </c:extLst>
          </c:dPt>
          <c:dLbls>
            <c:numFmt formatCode="0.0&quot; 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_-* #\ ##0_-;\-* #\ ##0_-;_-* "-"??_-;_-@_-</c:formatCode>
                <c:ptCount val="3"/>
                <c:pt idx="0">
                  <c:v>41136562.369997002</c:v>
                </c:pt>
                <c:pt idx="1">
                  <c:v>38697330.740001999</c:v>
                </c:pt>
                <c:pt idx="2">
                  <c:v>36088492.290002003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E7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4EBA-496E-BF93-0584CB35DC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  <c:dispUnitsLbl>
            <c:txPr>
              <a:bodyPr/>
              <a:lstStyle/>
              <a:p>
                <a:pPr>
                  <a:defRPr sz="1400"/>
                </a:pPr>
                <a:endParaRPr lang="fr-FR"/>
              </a:p>
            </c:txPr>
          </c:dispUnitsLbl>
        </c:dispUnits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fr-FR" dirty="0"/>
              <a:t>TV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RD</c:v>
                </c:pt>
              </c:strCache>
            </c:strRef>
          </c:tx>
          <c:spPr>
            <a:solidFill>
              <a:srgbClr val="0E7C86"/>
            </a:solidFill>
            <a:ln>
              <a:solidFill>
                <a:srgbClr val="007E79"/>
              </a:solidFill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741-4933-A600-109BF572C528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2-E741-4933-A600-109BF572C528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E741-4933-A600-109BF572C528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RAM</c:v>
                </c:pt>
                <c:pt idx="1">
                  <c:v>Emirates</c:v>
                </c:pt>
                <c:pt idx="2">
                  <c:v>TURKISH AIRLINES</c:v>
                </c:pt>
                <c:pt idx="3">
                  <c:v>AIR ARABIA</c:v>
                </c:pt>
              </c:strCache>
            </c:strRef>
          </c:cat>
          <c:val>
            <c:numRef>
              <c:f>Sheet1!$B$2:$B$5</c:f>
              <c:numCache>
                <c:formatCode>_-* #\ ##0_-;\-* #\ ##0_-;_-* "-"??_-;_-@_-</c:formatCode>
                <c:ptCount val="4"/>
                <c:pt idx="0">
                  <c:v>13432078.000000009</c:v>
                </c:pt>
                <c:pt idx="1">
                  <c:v>4753085</c:v>
                </c:pt>
                <c:pt idx="2">
                  <c:v>3051369</c:v>
                </c:pt>
                <c:pt idx="3">
                  <c:v>3014218.5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E7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E741-4933-A600-109BF572C5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000000"/>
          <c:min val="0"/>
        </c:scaling>
        <c:delete val="0"/>
        <c:axPos val="l"/>
        <c:numFmt formatCode="#,##0.0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  <c:dispUnitsLbl>
            <c:txPr>
              <a:bodyPr/>
              <a:lstStyle/>
              <a:p>
                <a:pPr>
                  <a:defRPr sz="1400"/>
                </a:pPr>
                <a:endParaRPr lang="fr-FR"/>
              </a:p>
            </c:txPr>
          </c:dispUnitsLbl>
        </c:dispUnits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2000"/>
            </a:pPr>
            <a:r>
              <a:rPr lang="fr-FR" sz="2000" dirty="0"/>
              <a:t>Télé (M MAD)</a:t>
            </a:r>
          </a:p>
        </c:rich>
      </c:tx>
      <c:layout>
        <c:manualLayout>
          <c:xMode val="edge"/>
          <c:yMode val="edge"/>
          <c:x val="0.38189404313591241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 (M MAD)</c:v>
                </c:pt>
              </c:strCache>
            </c:strRef>
          </c:tx>
          <c:spPr>
            <a:solidFill>
              <a:srgbClr val="007E79"/>
            </a:solidFill>
            <a:ln>
              <a:solidFill>
                <a:srgbClr val="007E79"/>
              </a:solidFill>
            </a:ln>
          </c:spPr>
          <c:invertIfNegative val="1"/>
          <c:dPt>
            <c:idx val="1"/>
            <c:invertIfNegative val="1"/>
            <c:bubble3D val="0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FAEC-4875-A127-856D01D7F837}"/>
              </c:ext>
            </c:extLst>
          </c:dPt>
          <c:dPt>
            <c:idx val="2"/>
            <c:invertIfNegative val="1"/>
            <c:bubble3D val="0"/>
            <c:spPr>
              <a:solidFill>
                <a:srgbClr val="3D2B1F"/>
              </a:solidFill>
              <a:ln>
                <a:solidFill>
                  <a:srgbClr val="007E7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0ECB-4E43-B8CA-60426D44BAA0}"/>
              </c:ext>
            </c:extLst>
          </c:dPt>
          <c:dPt>
            <c:idx val="3"/>
            <c:invertIfNegative val="1"/>
            <c:bubble3D val="0"/>
            <c:spPr>
              <a:solidFill>
                <a:srgbClr val="3D2B1F"/>
              </a:solidFill>
              <a:ln>
                <a:solidFill>
                  <a:srgbClr val="007E7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3006-4091-BADA-766470810B44}"/>
              </c:ext>
            </c:extLst>
          </c:dPt>
          <c:dLbls>
            <c:numFmt formatCode="0.0&quot; 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_-* #\ ##0_-;\-* #\ ##0_-;_-* "-"??_-;_-@_-</c:formatCode>
                <c:ptCount val="2"/>
                <c:pt idx="0">
                  <c:v>11161159.599999998</c:v>
                </c:pt>
                <c:pt idx="1">
                  <c:v>4083662.9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E7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74D-4FFD-9630-C50FC21CE0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000000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  <c:dispUnitsLbl>
            <c:txPr>
              <a:bodyPr/>
              <a:lstStyle/>
              <a:p>
                <a:pPr>
                  <a:defRPr sz="1400"/>
                </a:pPr>
                <a:endParaRPr lang="fr-FR"/>
              </a:p>
            </c:txPr>
          </c:dispUnitsLbl>
        </c:dispUnits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620425454580995"/>
          <c:y val="0.19808181166064379"/>
          <c:w val="0.33515870467358538"/>
          <c:h val="0.7602773727602967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</c:v>
                </c:pt>
              </c:strCache>
            </c:strRef>
          </c:tx>
          <c:dPt>
            <c:idx val="0"/>
            <c:bubble3D val="0"/>
            <c:spPr>
              <a:solidFill>
                <a:srgbClr val="C70A0C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67B-44D2-BDDE-5C7319620E2C}"/>
              </c:ext>
            </c:extLst>
          </c:dPt>
          <c:dPt>
            <c:idx val="1"/>
            <c:bubble3D val="0"/>
            <c:spPr>
              <a:solidFill>
                <a:srgbClr val="2563EB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67B-44D2-BDDE-5C7319620E2C}"/>
              </c:ext>
            </c:extLst>
          </c:dPt>
          <c:dPt>
            <c:idx val="2"/>
            <c:bubble3D val="0"/>
            <c:spPr>
              <a:solidFill>
                <a:srgbClr val="0E7C86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67B-44D2-BDDE-5C7319620E2C}"/>
              </c:ext>
            </c:extLst>
          </c:dPt>
          <c:dPt>
            <c:idx val="3"/>
            <c:bubble3D val="0"/>
            <c:spPr>
              <a:solidFill>
                <a:schemeClr val="bg2">
                  <a:lumMod val="75000"/>
                </a:schemeClr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A67B-44D2-BDDE-5C7319620E2C}"/>
              </c:ext>
            </c:extLst>
          </c:dPt>
          <c:dPt>
            <c:idx val="4"/>
            <c:bubble3D val="0"/>
            <c:spPr>
              <a:solidFill>
                <a:srgbClr val="FF6D6D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A67B-44D2-BDDE-5C7319620E2C}"/>
              </c:ext>
            </c:extLst>
          </c:dPt>
          <c:dPt>
            <c:idx val="5"/>
            <c:bubble3D val="0"/>
            <c:spPr>
              <a:solidFill>
                <a:srgbClr val="00B0F0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A67B-44D2-BDDE-5C7319620E2C}"/>
              </c:ext>
            </c:extLst>
          </c:dPt>
          <c:dPt>
            <c:idx val="6"/>
            <c:bubble3D val="0"/>
            <c:spPr>
              <a:solidFill>
                <a:srgbClr val="B1E5EF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A67B-44D2-BDDE-5C7319620E2C}"/>
              </c:ext>
            </c:extLst>
          </c:dPt>
          <c:dPt>
            <c:idx val="7"/>
            <c:bubble3D val="0"/>
            <c:spPr>
              <a:solidFill>
                <a:srgbClr val="EAF2F4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A67B-44D2-BDDE-5C7319620E2C}"/>
              </c:ext>
            </c:extLst>
          </c:dPt>
          <c:dPt>
            <c:idx val="8"/>
            <c:bubble3D val="0"/>
            <c:spPr>
              <a:solidFill>
                <a:srgbClr val="D2E6E1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A67B-44D2-BDDE-5C7319620E2C}"/>
              </c:ext>
            </c:extLst>
          </c:dPt>
          <c:dPt>
            <c:idx val="9"/>
            <c:bubble3D val="0"/>
            <c:spPr>
              <a:solidFill>
                <a:srgbClr val="BED2CE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3-A67B-44D2-BDDE-5C7319620E2C}"/>
              </c:ext>
            </c:extLst>
          </c:dPt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67B-44D2-BDDE-5C7319620E2C}"/>
                </c:ext>
              </c:extLst>
            </c:dLbl>
            <c:dLbl>
              <c:idx val="7"/>
              <c:layout>
                <c:manualLayout>
                  <c:x val="2.3930593647704151E-2"/>
                  <c:y val="3.501992591796500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67B-44D2-BDDE-5C7319620E2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67B-44D2-BDDE-5C7319620E2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A67B-44D2-BDDE-5C7319620E2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67B-44D2-BDDE-5C7319620E2C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A67B-44D2-BDDE-5C7319620E2C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67B-44D2-BDDE-5C7319620E2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A67B-44D2-BDDE-5C7319620E2C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A67B-44D2-BDDE-5C7319620E2C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A67B-44D2-BDDE-5C7319620E2C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A67B-44D2-BDDE-5C7319620E2C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A67B-44D2-BDDE-5C7319620E2C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A67B-44D2-BDDE-5C7319620E2C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A67B-44D2-BDDE-5C7319620E2C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A67B-44D2-BDDE-5C7319620E2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0B2B3A"/>
                    </a:solidFill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arriyadia</c:v>
                </c:pt>
                <c:pt idx="1">
                  <c:v>al_aoula</c:v>
                </c:pt>
                <c:pt idx="2">
                  <c:v>telemaroc</c:v>
                </c:pt>
                <c:pt idx="3">
                  <c:v>2m</c:v>
                </c:pt>
                <c:pt idx="4">
                  <c:v>tamazigh_tnt</c:v>
                </c:pt>
                <c:pt idx="5">
                  <c:v>medi1sat</c:v>
                </c:pt>
                <c:pt idx="6">
                  <c:v>arrabia</c:v>
                </c:pt>
              </c:strCache>
            </c:strRef>
          </c:cat>
          <c:val>
            <c:numRef>
              <c:f>Sheet1!$B$2:$B$8</c:f>
              <c:numCache>
                <c:formatCode>_-* #\ ##0_-;\-* #\ ##0_-;_-* "-"??_-;_-@_-</c:formatCode>
                <c:ptCount val="7"/>
                <c:pt idx="0">
                  <c:v>916065</c:v>
                </c:pt>
                <c:pt idx="1">
                  <c:v>889373</c:v>
                </c:pt>
                <c:pt idx="2">
                  <c:v>779040</c:v>
                </c:pt>
                <c:pt idx="3">
                  <c:v>694637.39999999991</c:v>
                </c:pt>
                <c:pt idx="4">
                  <c:v>465773</c:v>
                </c:pt>
                <c:pt idx="5">
                  <c:v>321774.49999999994</c:v>
                </c:pt>
                <c:pt idx="6">
                  <c:v>17000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A67B-44D2-BDDE-5C7319620E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443421171437359"/>
          <c:y val="0.16144814905280847"/>
          <c:w val="0.16848156823939375"/>
          <c:h val="0.73588355940015071"/>
        </c:manualLayout>
      </c:layout>
      <c:overlay val="0"/>
      <c:txPr>
        <a:bodyPr/>
        <a:lstStyle/>
        <a:p>
          <a:pPr>
            <a:defRPr sz="100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fr-FR" dirty="0"/>
              <a:t>TV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Investissements média PR</c:v>
                </c:pt>
              </c:strCache>
            </c:strRef>
          </c:tx>
          <c:spPr>
            <a:solidFill>
              <a:srgbClr val="007E79"/>
            </a:solidFill>
            <a:ln>
              <a:solidFill>
                <a:srgbClr val="007E79"/>
              </a:solidFill>
            </a:ln>
          </c:spPr>
          <c:invertIfNegative val="1"/>
          <c:dPt>
            <c:idx val="3"/>
            <c:invertIfNegative val="1"/>
            <c:bubble3D val="0"/>
            <c:spPr>
              <a:solidFill>
                <a:srgbClr val="4FDAE1"/>
              </a:solidFill>
              <a:ln>
                <a:solidFill>
                  <a:srgbClr val="007E7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67F-4E1F-B1E7-7598DBC3CC3A}"/>
              </c:ext>
            </c:extLst>
          </c:dPt>
          <c:dPt>
            <c:idx val="4"/>
            <c:invertIfNegative val="1"/>
            <c:bubble3D val="0"/>
            <c:spPr>
              <a:solidFill>
                <a:srgbClr val="4FDAE1"/>
              </a:solidFill>
              <a:ln>
                <a:solidFill>
                  <a:srgbClr val="007E7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67F-4E1F-B1E7-7598DBC3CC3A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/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</c:f>
              <c:strCache>
                <c:ptCount val="1"/>
                <c:pt idx="0">
                  <c:v>RAM</c:v>
                </c:pt>
              </c:strCache>
            </c:strRef>
          </c:cat>
          <c:val>
            <c:numRef>
              <c:f>Sheet1!$B$2:$B$2</c:f>
              <c:numCache>
                <c:formatCode>_-* #\ ##0_-;\-* #\ ##0_-;_-* "-"??_-;_-@_-</c:formatCode>
                <c:ptCount val="1"/>
                <c:pt idx="0">
                  <c:v>4083662.9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E7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867F-4E1F-B1E7-7598DBC3CC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7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000000"/>
        </c:scaling>
        <c:delete val="0"/>
        <c:axPos val="l"/>
        <c:numFmt formatCode="#,##0.0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  <c:dispUnitsLbl>
            <c:txPr>
              <a:bodyPr/>
              <a:lstStyle/>
              <a:p>
                <a:pPr>
                  <a:defRPr sz="1400"/>
                </a:pPr>
                <a:endParaRPr lang="fr-FR"/>
              </a:p>
            </c:txPr>
          </c:dispUnitsLbl>
        </c:dispUnits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620425454580995"/>
          <c:y val="0.19808181166064379"/>
          <c:w val="0.33515870467358538"/>
          <c:h val="0.7602773727602967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67B-44D2-BDDE-5C7319620E2C}"/>
              </c:ext>
            </c:extLst>
          </c:dPt>
          <c:dPt>
            <c:idx val="1"/>
            <c:bubble3D val="0"/>
            <c:spPr>
              <a:solidFill>
                <a:srgbClr val="2563EB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67B-44D2-BDDE-5C7319620E2C}"/>
              </c:ext>
            </c:extLst>
          </c:dPt>
          <c:dPt>
            <c:idx val="2"/>
            <c:bubble3D val="0"/>
            <c:spPr>
              <a:solidFill>
                <a:srgbClr val="0E7C86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67B-44D2-BDDE-5C7319620E2C}"/>
              </c:ext>
            </c:extLst>
          </c:dPt>
          <c:dPt>
            <c:idx val="3"/>
            <c:bubble3D val="0"/>
            <c:spPr>
              <a:solidFill>
                <a:schemeClr val="bg2">
                  <a:lumMod val="75000"/>
                </a:schemeClr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A67B-44D2-BDDE-5C7319620E2C}"/>
              </c:ext>
            </c:extLst>
          </c:dPt>
          <c:dPt>
            <c:idx val="4"/>
            <c:bubble3D val="0"/>
            <c:spPr>
              <a:solidFill>
                <a:srgbClr val="FFB3B3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A67B-44D2-BDDE-5C7319620E2C}"/>
              </c:ext>
            </c:extLst>
          </c:dPt>
          <c:dPt>
            <c:idx val="5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A67B-44D2-BDDE-5C7319620E2C}"/>
              </c:ext>
            </c:extLst>
          </c:dPt>
          <c:dPt>
            <c:idx val="6"/>
            <c:bubble3D val="0"/>
            <c:spPr>
              <a:solidFill>
                <a:srgbClr val="00B0F0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A67B-44D2-BDDE-5C7319620E2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A67B-44D2-BDDE-5C7319620E2C}"/>
              </c:ext>
            </c:extLst>
          </c:dPt>
          <c:dPt>
            <c:idx val="8"/>
            <c:bubble3D val="0"/>
            <c:spPr>
              <a:solidFill>
                <a:srgbClr val="D2E6E1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A67B-44D2-BDDE-5C7319620E2C}"/>
              </c:ext>
            </c:extLst>
          </c:dPt>
          <c:dPt>
            <c:idx val="9"/>
            <c:bubble3D val="0"/>
            <c:spPr>
              <a:solidFill>
                <a:srgbClr val="BED2CE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13-A67B-44D2-BDDE-5C7319620E2C}"/>
              </c:ext>
            </c:extLst>
          </c:dPt>
          <c:dLbls>
            <c:dLbl>
              <c:idx val="7"/>
              <c:layout>
                <c:manualLayout>
                  <c:x val="7.6155760985024369E-3"/>
                  <c:y val="2.3881180841906102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67B-44D2-BDDE-5C7319620E2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67B-44D2-BDDE-5C7319620E2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A67B-44D2-BDDE-5C7319620E2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67B-44D2-BDDE-5C7319620E2C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A67B-44D2-BDDE-5C7319620E2C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67B-44D2-BDDE-5C7319620E2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A67B-44D2-BDDE-5C7319620E2C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A67B-44D2-BDDE-5C7319620E2C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A67B-44D2-BDDE-5C7319620E2C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A67B-44D2-BDDE-5C7319620E2C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A67B-44D2-BDDE-5C7319620E2C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A67B-44D2-BDDE-5C7319620E2C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A67B-44D2-BDDE-5C7319620E2C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A67B-44D2-BDDE-5C7319620E2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0B2B3A"/>
                    </a:solidFill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hola_maroc</c:v>
                </c:pt>
                <c:pt idx="1">
                  <c:v>nissaa_magh</c:v>
                </c:pt>
                <c:pt idx="2">
                  <c:v>femmes_m</c:v>
                </c:pt>
                <c:pt idx="3">
                  <c:v>industrie_du_maroc</c:v>
                </c:pt>
                <c:pt idx="4">
                  <c:v>maisons_m</c:v>
                </c:pt>
                <c:pt idx="5">
                  <c:v>sabah</c:v>
                </c:pt>
                <c:pt idx="6">
                  <c:v>maghrebeco_com</c:v>
                </c:pt>
                <c:pt idx="7">
                  <c:v>Energie &amp; stratégie</c:v>
                </c:pt>
              </c:strCache>
            </c:strRef>
          </c:cat>
          <c:val>
            <c:numRef>
              <c:f>Sheet1!$B$2:$B$9</c:f>
              <c:numCache>
                <c:formatCode>_-* #\ ##0_-;\-* #\ ##0_-;_-* "-"??_-;_-@_-</c:formatCode>
                <c:ptCount val="8"/>
                <c:pt idx="0">
                  <c:v>95000</c:v>
                </c:pt>
                <c:pt idx="1">
                  <c:v>84000</c:v>
                </c:pt>
                <c:pt idx="2">
                  <c:v>59000</c:v>
                </c:pt>
                <c:pt idx="3">
                  <c:v>42000</c:v>
                </c:pt>
                <c:pt idx="4">
                  <c:v>34000</c:v>
                </c:pt>
                <c:pt idx="5">
                  <c:v>31000</c:v>
                </c:pt>
                <c:pt idx="6">
                  <c:v>30000</c:v>
                </c:pt>
                <c:pt idx="7">
                  <c:v>14000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A67B-44D2-BDDE-5C7319620E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443421171437359"/>
          <c:y val="0.11689403444085683"/>
          <c:w val="0.22908024351050951"/>
          <c:h val="0.80828399564457221"/>
        </c:manualLayout>
      </c:layout>
      <c:overlay val="0"/>
      <c:txPr>
        <a:bodyPr/>
        <a:lstStyle/>
        <a:p>
          <a:pPr>
            <a:defRPr sz="1000"/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</c:v>
                </c:pt>
              </c:strCache>
            </c:strRef>
          </c:tx>
          <c:spPr>
            <a:solidFill>
              <a:srgbClr val="0E7C86"/>
            </a:solidFill>
            <a:ln>
              <a:solidFill>
                <a:srgbClr val="007E79"/>
              </a:solidFill>
            </a:ln>
          </c:spPr>
          <c:invertIfNegative val="1"/>
          <c:dPt>
            <c:idx val="3"/>
            <c:invertIfNegative val="1"/>
            <c:bubble3D val="0"/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5CB9-466A-B4C4-1178EA8C0E2E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5CB9-466A-B4C4-1178EA8C0E2E}"/>
              </c:ext>
            </c:extLst>
          </c:dPt>
          <c:dLbls>
            <c:dLbl>
              <c:idx val="2"/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000">
                      <a:solidFill>
                        <a:schemeClr val="tx1"/>
                      </a:solidFill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E88-4560-8D58-A93592F41E63}"/>
                </c:ext>
              </c:extLst>
            </c:dLbl>
            <c:dLbl>
              <c:idx val="3"/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000">
                      <a:solidFill>
                        <a:schemeClr val="tx1"/>
                      </a:solidFill>
                    </a:defRPr>
                  </a:pPr>
                  <a:endParaRPr lang="fr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CB9-466A-B4C4-1178EA8C0E2E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RAM</c:v>
                </c:pt>
                <c:pt idx="1">
                  <c:v>JETEX</c:v>
                </c:pt>
                <c:pt idx="2">
                  <c:v>RAM HANDLING</c:v>
                </c:pt>
                <c:pt idx="3">
                  <c:v>TURKISH AIRLINES</c:v>
                </c:pt>
              </c:strCache>
            </c:strRef>
          </c:cat>
          <c:val>
            <c:numRef>
              <c:f>Sheet1!$B$2:$B$5</c:f>
              <c:numCache>
                <c:formatCode>_-* #\ ##0_-;\-* #\ ##0_-;_-* "-"??_-;_-@_-</c:formatCode>
                <c:ptCount val="4"/>
                <c:pt idx="0">
                  <c:v>221000</c:v>
                </c:pt>
                <c:pt idx="1">
                  <c:v>95000</c:v>
                </c:pt>
                <c:pt idx="2">
                  <c:v>42000</c:v>
                </c:pt>
                <c:pt idx="3">
                  <c:v>31000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E7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CB9-466A-B4C4-1178EA8C0E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0000"/>
          <c:min val="0"/>
        </c:scaling>
        <c:delete val="0"/>
        <c:axPos val="l"/>
        <c:numFmt formatCode="#,##0.0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  <c:dispUnitsLbl>
            <c:txPr>
              <a:bodyPr/>
              <a:lstStyle/>
              <a:p>
                <a:pPr>
                  <a:defRPr sz="1400"/>
                </a:pPr>
                <a:endParaRPr lang="fr-FR"/>
              </a:p>
            </c:txPr>
          </c:dispUnitsLbl>
        </c:dispUnits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/>
            </a:pPr>
            <a:r>
              <a:rPr lang="en-US" sz="2000" dirty="0"/>
              <a:t>PR</a:t>
            </a:r>
          </a:p>
        </c:rich>
      </c:tx>
      <c:layout>
        <c:manualLayout>
          <c:xMode val="edge"/>
          <c:yMode val="edge"/>
          <c:x val="0.46335517940496956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</c:v>
                </c:pt>
              </c:strCache>
            </c:strRef>
          </c:tx>
          <c:spPr>
            <a:solidFill>
              <a:srgbClr val="007E79"/>
            </a:solidFill>
            <a:ln>
              <a:solidFill>
                <a:srgbClr val="007E79"/>
              </a:solidFill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A3EC-4F5D-A1DA-E1DBB147E067}"/>
              </c:ext>
            </c:extLst>
          </c:dPt>
          <c:dPt>
            <c:idx val="3"/>
            <c:invertIfNegative val="1"/>
            <c:bubble3D val="0"/>
            <c:spPr>
              <a:solidFill>
                <a:srgbClr val="3D2B1F"/>
              </a:solidFill>
              <a:ln>
                <a:solidFill>
                  <a:srgbClr val="007E7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D46-4B2B-8467-75E84114DA37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tx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Sheet1!$B$2:$B$4</c:f>
              <c:numCache>
                <c:formatCode>_-* #\ ##0_-;\-* #\ ##0_-;_-* "-"??_-;_-@_-</c:formatCode>
                <c:ptCount val="3"/>
                <c:pt idx="0">
                  <c:v>1907950</c:v>
                </c:pt>
                <c:pt idx="1">
                  <c:v>631200</c:v>
                </c:pt>
                <c:pt idx="2">
                  <c:v>389000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E7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D46-4B2B-8467-75E84114DA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fr-FR"/>
          </a:p>
        </c:txPr>
        <c:crossAx val="-2068027336"/>
        <c:crosses val="autoZero"/>
        <c:crossBetween val="between"/>
        <c:dispUnits>
          <c:builtInUnit val="millions"/>
        </c:dispUnits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13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AB05-6BCA-58AE-4880-3CDB13420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53624-17A7-6FC2-C0A8-88BD49C74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D6D1C-566C-E7D2-99B7-E1379D323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Données fournies par l’utilisateur via captures d’écran (tableaux Excel) : totaux annuels 2022–2025, mix média (AF/PR/RD) et répartition mensuelle.
[/Sources]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FD472-B177-E453-AFCB-91A0FFE06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00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re">
    <p:bg>
      <p:bgPr>
        <a:solidFill>
          <a:srgbClr val="2086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eur et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3581"/>
            <a:ext cx="10985502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r>
              <a:t>Auteur et date</a:t>
            </a:r>
          </a:p>
        </p:txBody>
      </p:sp>
      <p:sp>
        <p:nvSpPr>
          <p:cNvPr id="12" name="Titre de la présentation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116">
                <a:solidFill>
                  <a:srgbClr val="FFFFFF"/>
                </a:solidFill>
              </a:defRPr>
            </a:lvl1pPr>
          </a:lstStyle>
          <a:p>
            <a:r>
              <a:t>Titre de la présentation</a:t>
            </a:r>
          </a:p>
        </p:txBody>
      </p:sp>
      <p:sp>
        <p:nvSpPr>
          <p:cNvPr id="13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605245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bg2"/>
                </a:solidFill>
              </a:defRPr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bg2"/>
                </a:solidFill>
              </a:defRPr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bg2"/>
                </a:solidFill>
              </a:defRPr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bg2"/>
                </a:solidFill>
              </a:defRPr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bg2"/>
                </a:solidFill>
              </a:defRPr>
            </a:lvl5pPr>
          </a:lstStyle>
          <a:p>
            <a:r>
              <a:t>Sous-titre de la présentation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409224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AC62E6-A5BF-D6DA-4436-EBDB9D0C59FA}"/>
              </a:ext>
            </a:extLst>
          </p:cNvPr>
          <p:cNvSpPr/>
          <p:nvPr/>
        </p:nvSpPr>
        <p:spPr>
          <a:xfrm>
            <a:off x="-3125" y="0"/>
            <a:ext cx="12192001" cy="68580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13DD98-DD8E-4F7D-54E5-E11E5DC6E042}"/>
              </a:ext>
            </a:extLst>
          </p:cNvPr>
          <p:cNvSpPr/>
          <p:nvPr/>
        </p:nvSpPr>
        <p:spPr>
          <a:xfrm>
            <a:off x="-1" y="1711569"/>
            <a:ext cx="12192001" cy="3434862"/>
          </a:xfrm>
          <a:prstGeom prst="rect">
            <a:avLst/>
          </a:prstGeom>
          <a:solidFill>
            <a:srgbClr val="007E7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EFC495-62A6-4F37-B61F-C93CCDA39C63}"/>
              </a:ext>
            </a:extLst>
          </p:cNvPr>
          <p:cNvSpPr txBox="1">
            <a:spLocks/>
          </p:cNvSpPr>
          <p:nvPr/>
        </p:nvSpPr>
        <p:spPr>
          <a:xfrm>
            <a:off x="362745" y="2135617"/>
            <a:ext cx="11521141" cy="2221847"/>
          </a:xfrm>
          <a:prstGeom prst="rect">
            <a:avLst/>
          </a:prstGeom>
        </p:spPr>
        <p:txBody>
          <a:bodyPr rtlCol="0"/>
          <a:lstStyle>
            <a:lvl1pPr algn="l" defTabSz="912796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912796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</a:defRPr>
            </a:lvl2pPr>
            <a:lvl3pPr algn="l" defTabSz="912796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</a:defRPr>
            </a:lvl3pPr>
            <a:lvl4pPr algn="l" defTabSz="912796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</a:defRPr>
            </a:lvl4pPr>
            <a:lvl5pPr algn="l" defTabSz="912796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</a:defRPr>
            </a:lvl5pPr>
            <a:lvl6pPr marL="457192" algn="l" defTabSz="912796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</a:defRPr>
            </a:lvl6pPr>
            <a:lvl7pPr marL="914383" algn="l" defTabSz="912796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</a:defRPr>
            </a:lvl7pPr>
            <a:lvl8pPr marL="1371575" algn="l" defTabSz="912796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</a:defRPr>
            </a:lvl8pPr>
            <a:lvl9pPr marL="1828766" algn="l" defTabSz="912796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charset="0"/>
              </a:defRPr>
            </a:lvl9pPr>
          </a:lstStyle>
          <a:p>
            <a:r>
              <a:rPr lang="fr-FR" sz="6000" b="1" dirty="0">
                <a:solidFill>
                  <a:srgbClr val="FFFFFF"/>
                </a:solidFill>
                <a:latin typeface="+mn-lt"/>
                <a:ea typeface="Calibri" charset="0"/>
                <a:cs typeface="Helvetica" panose="020B0604020202020204" pitchFamily="34" charset="0"/>
              </a:rPr>
              <a:t>Media Review</a:t>
            </a:r>
          </a:p>
          <a:p>
            <a:r>
              <a:rPr lang="fr-FR" sz="6000" b="1" dirty="0">
                <a:solidFill>
                  <a:srgbClr val="FFFFFF"/>
                </a:solidFill>
                <a:latin typeface="+mn-lt"/>
                <a:ea typeface="Calibri" charset="0"/>
                <a:cs typeface="Helvetica" panose="020B0604020202020204" pitchFamily="34" charset="0"/>
              </a:rPr>
              <a:t>Compagnies Aériennes</a:t>
            </a:r>
          </a:p>
          <a:p>
            <a:r>
              <a:rPr lang="fr-FR" sz="6000" b="1" dirty="0">
                <a:solidFill>
                  <a:srgbClr val="FFFFFF"/>
                </a:solidFill>
                <a:latin typeface="+mn-lt"/>
                <a:ea typeface="Calibri" charset="0"/>
                <a:cs typeface="Helvetica" panose="020B0604020202020204" pitchFamily="34" charset="0"/>
              </a:rPr>
              <a:t>| 2023 – 2025</a:t>
            </a:r>
          </a:p>
        </p:txBody>
      </p:sp>
      <p:sp>
        <p:nvSpPr>
          <p:cNvPr id="14" name="Espace réservé du numéro de diapositive 114">
            <a:extLst>
              <a:ext uri="{FF2B5EF4-FFF2-40B4-BE49-F238E27FC236}">
                <a16:creationId xmlns:a16="http://schemas.microsoft.com/office/drawing/2014/main" id="{FEBC2B51-F524-4D78-82F4-B37369D185BD}"/>
              </a:ext>
            </a:extLst>
          </p:cNvPr>
          <p:cNvSpPr txBox="1">
            <a:spLocks/>
          </p:cNvSpPr>
          <p:nvPr/>
        </p:nvSpPr>
        <p:spPr>
          <a:xfrm>
            <a:off x="6038374" y="6538004"/>
            <a:ext cx="109005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86CB4B4D-7CA3-9044-876B-883B54F8677D}" type="slidenum">
              <a:rPr lang="en-US" sz="900">
                <a:solidFill>
                  <a:srgbClr val="FFFFFF"/>
                </a:solidFill>
              </a:rPr>
              <a:pPr/>
              <a:t>1</a:t>
            </a:fld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16" name="Logo client">
            <a:extLst>
              <a:ext uri="{FF2B5EF4-FFF2-40B4-BE49-F238E27FC236}">
                <a16:creationId xmlns:a16="http://schemas.microsoft.com/office/drawing/2014/main" id="{E4613C11-15EE-4EDE-8D10-28738963AFB0}"/>
              </a:ext>
            </a:extLst>
          </p:cNvPr>
          <p:cNvSpPr txBox="1"/>
          <p:nvPr/>
        </p:nvSpPr>
        <p:spPr>
          <a:xfrm>
            <a:off x="304228" y="5739618"/>
            <a:ext cx="3209732" cy="893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rmAutofit/>
          </a:bodyPr>
          <a:lstStyle>
            <a:lvl1pPr algn="l" defTabSz="1658070">
              <a:lnSpc>
                <a:spcPct val="80000"/>
              </a:lnSpc>
              <a:defRPr sz="19584" b="1" spc="-391">
                <a:solidFill>
                  <a:srgbClr val="FFFFFF"/>
                </a:solidFill>
              </a:defRPr>
            </a:lvl1pPr>
          </a:lstStyle>
          <a:p>
            <a:endParaRPr sz="3000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9439EC3-591D-5646-DBB7-3DD1EC27B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45" y="5349281"/>
            <a:ext cx="1835586" cy="92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3249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26655-5E55-F8A6-5A99-3F8E6D5D7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920F81-6F5F-4C32-07E2-62686A7399D5}"/>
              </a:ext>
            </a:extLst>
          </p:cNvPr>
          <p:cNvSpPr/>
          <p:nvPr/>
        </p:nvSpPr>
        <p:spPr>
          <a:xfrm>
            <a:off x="502920" y="231708"/>
            <a:ext cx="72608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 média - Compagnies Aériennes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75593A-E28C-A3F8-ACF1-FDE0C8D755FF}"/>
              </a:ext>
            </a:extLst>
          </p:cNvPr>
          <p:cNvSpPr/>
          <p:nvPr/>
        </p:nvSpPr>
        <p:spPr>
          <a:xfrm>
            <a:off x="502920" y="678209"/>
            <a:ext cx="3652244" cy="307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 | Millions </a:t>
            </a: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</a:t>
            </a:r>
            <a:r>
              <a:rPr lang="de-DE" sz="1400" dirty="0">
                <a:solidFill>
                  <a:srgbClr val="2563EB"/>
                </a:solidFill>
              </a:rPr>
              <a:t>| Source : Imperium </a:t>
            </a:r>
            <a:endParaRPr lang="en-US" sz="1350" dirty="0">
              <a:solidFill>
                <a:srgbClr val="2563EB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532D9BA-5D4A-C16D-532C-FED83F60FC89}"/>
              </a:ext>
            </a:extLst>
          </p:cNvPr>
          <p:cNvSpPr/>
          <p:nvPr/>
        </p:nvSpPr>
        <p:spPr>
          <a:xfrm>
            <a:off x="8414466" y="4042966"/>
            <a:ext cx="3274310" cy="2534595"/>
          </a:xfrm>
          <a:prstGeom prst="roundRect">
            <a:avLst/>
          </a:prstGeom>
          <a:solidFill>
            <a:srgbClr val="EDF1F9"/>
          </a:solidFill>
          <a:ln w="12700">
            <a:solidFill>
              <a:srgbClr val="D9E2EC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E7B0BB7-835D-EF89-8E77-8EE22DAADDF1}"/>
              </a:ext>
            </a:extLst>
          </p:cNvPr>
          <p:cNvSpPr/>
          <p:nvPr/>
        </p:nvSpPr>
        <p:spPr>
          <a:xfrm>
            <a:off x="502920" y="1117302"/>
            <a:ext cx="5806440" cy="27889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566BD01-D44D-96ED-9FEF-42232EA580A9}"/>
              </a:ext>
            </a:extLst>
          </p:cNvPr>
          <p:cNvSpPr/>
          <p:nvPr/>
        </p:nvSpPr>
        <p:spPr>
          <a:xfrm>
            <a:off x="822960" y="1219535"/>
            <a:ext cx="1993392" cy="32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 annuels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EE20EF16-C5FB-56A8-F660-BC27D2D92B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4836221"/>
              </p:ext>
            </p:extLst>
          </p:nvPr>
        </p:nvGraphicFramePr>
        <p:xfrm>
          <a:off x="777240" y="1548722"/>
          <a:ext cx="5257800" cy="2192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1C979AA6-185E-FA9A-907A-2FB3FA2060EF}"/>
              </a:ext>
            </a:extLst>
          </p:cNvPr>
          <p:cNvSpPr/>
          <p:nvPr/>
        </p:nvSpPr>
        <p:spPr>
          <a:xfrm>
            <a:off x="6510528" y="1117302"/>
            <a:ext cx="5178247" cy="27889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EC9ED56-D8BA-BFCE-11FA-C69BC01A9ACA}"/>
              </a:ext>
            </a:extLst>
          </p:cNvPr>
          <p:cNvSpPr/>
          <p:nvPr/>
        </p:nvSpPr>
        <p:spPr>
          <a:xfrm>
            <a:off x="6830569" y="1219535"/>
            <a:ext cx="2262226" cy="329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2025 par média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E9A6532-B2FA-4902-244F-AA437E63C705}"/>
              </a:ext>
            </a:extLst>
          </p:cNvPr>
          <p:cNvSpPr/>
          <p:nvPr/>
        </p:nvSpPr>
        <p:spPr>
          <a:xfrm>
            <a:off x="502921" y="4042967"/>
            <a:ext cx="7750534" cy="2534594"/>
          </a:xfrm>
          <a:prstGeom prst="roundRect">
            <a:avLst/>
          </a:prstGeom>
          <a:solidFill>
            <a:srgbClr val="EDF1F9"/>
          </a:solidFill>
          <a:ln w="12700">
            <a:solidFill>
              <a:srgbClr val="D9E2EC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75DA328-A871-1380-3472-F42516B2159D}"/>
              </a:ext>
            </a:extLst>
          </p:cNvPr>
          <p:cNvSpPr/>
          <p:nvPr/>
        </p:nvSpPr>
        <p:spPr>
          <a:xfrm>
            <a:off x="822959" y="4180460"/>
            <a:ext cx="21031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 mensuelle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7" name="Chart 2">
            <a:extLst>
              <a:ext uri="{FF2B5EF4-FFF2-40B4-BE49-F238E27FC236}">
                <a16:creationId xmlns:a16="http://schemas.microsoft.com/office/drawing/2014/main" id="{E939D36F-D987-6429-1A89-FDDF0A3BEB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950527"/>
              </p:ext>
            </p:extLst>
          </p:nvPr>
        </p:nvGraphicFramePr>
        <p:xfrm>
          <a:off x="777241" y="4287166"/>
          <a:ext cx="7317187" cy="2290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D44DD654-9E9B-3DD8-A5DD-915A0FBEA5B5}"/>
              </a:ext>
            </a:extLst>
          </p:cNvPr>
          <p:cNvSpPr/>
          <p:nvPr/>
        </p:nvSpPr>
        <p:spPr>
          <a:xfrm rot="16200000">
            <a:off x="-3380175" y="3380170"/>
            <a:ext cx="6858002" cy="97656"/>
          </a:xfrm>
          <a:prstGeom prst="rect">
            <a:avLst/>
          </a:prstGeom>
          <a:solidFill>
            <a:srgbClr val="00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C97A7CAB-FBC4-8E20-F61B-8A11D52F25B7}"/>
              </a:ext>
            </a:extLst>
          </p:cNvPr>
          <p:cNvSpPr txBox="1"/>
          <p:nvPr/>
        </p:nvSpPr>
        <p:spPr>
          <a:xfrm>
            <a:off x="8573493" y="4091359"/>
            <a:ext cx="8572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Points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clés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6173C94D-869C-2B0C-43F2-3CE13FF9FD82}"/>
              </a:ext>
            </a:extLst>
          </p:cNvPr>
          <p:cNvSpPr txBox="1"/>
          <p:nvPr/>
        </p:nvSpPr>
        <p:spPr>
          <a:xfrm>
            <a:off x="8414466" y="4379215"/>
            <a:ext cx="329184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2025 : 39,4 M MAD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fort rebond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vs 2024 (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30,9 M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et retour proche de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2023 (42,4 M)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MIX 2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025 :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investissements surtout portés par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Radio (24,2 M)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et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Affichage (10,5 M)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;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TV limitée (4,0 M)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les autres médias restent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secondaires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Saisonnalité :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2023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marqué par un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pic en novembre (17 M)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;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2025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montre un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pic en (décembre (9 M).</a:t>
            </a:r>
            <a:endParaRPr sz="11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21" name="Graphique 20">
            <a:extLst>
              <a:ext uri="{FF2B5EF4-FFF2-40B4-BE49-F238E27FC236}">
                <a16:creationId xmlns:a16="http://schemas.microsoft.com/office/drawing/2014/main" id="{1B1E6673-8FA7-3DF2-6930-07DC38227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7867955"/>
              </p:ext>
            </p:extLst>
          </p:nvPr>
        </p:nvGraphicFramePr>
        <p:xfrm>
          <a:off x="6629399" y="1600478"/>
          <a:ext cx="4986223" cy="23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956379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76844"/>
            <a:ext cx="94454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/>
              <a:t>Investissement média par annonceur – 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Compagnies Aériennes</a:t>
            </a:r>
            <a:endParaRPr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48639" y="679246"/>
            <a:ext cx="7156283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2563EB"/>
                </a:solidFill>
              </a:rPr>
              <a:t>Classement annonceurs </a:t>
            </a:r>
            <a:r>
              <a:rPr sz="1400" dirty="0">
                <a:solidFill>
                  <a:srgbClr val="2563EB"/>
                </a:solidFill>
              </a:rPr>
              <a:t>| Montants en Millions MAD | </a:t>
            </a:r>
            <a:r>
              <a:rPr lang="fr-FR" sz="1400" dirty="0">
                <a:solidFill>
                  <a:srgbClr val="2563EB"/>
                </a:solidFill>
              </a:rPr>
              <a:t>2023-2024-2025 </a:t>
            </a:r>
            <a:r>
              <a:rPr lang="de-DE" sz="1400" dirty="0">
                <a:solidFill>
                  <a:srgbClr val="2563EB"/>
                </a:solidFill>
              </a:rPr>
              <a:t>| Source : Imperium 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055034"/>
              </p:ext>
            </p:extLst>
          </p:nvPr>
        </p:nvGraphicFramePr>
        <p:xfrm>
          <a:off x="294772" y="1264645"/>
          <a:ext cx="4000198" cy="3732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8">
            <a:extLst>
              <a:ext uri="{FF2B5EF4-FFF2-40B4-BE49-F238E27FC236}">
                <a16:creationId xmlns:a16="http://schemas.microsoft.com/office/drawing/2014/main" id="{419AD893-9DF8-B13B-0819-89F7DE942004}"/>
              </a:ext>
            </a:extLst>
          </p:cNvPr>
          <p:cNvSpPr/>
          <p:nvPr/>
        </p:nvSpPr>
        <p:spPr>
          <a:xfrm>
            <a:off x="502920" y="5279366"/>
            <a:ext cx="11185855" cy="1407373"/>
          </a:xfrm>
          <a:prstGeom prst="roundRect">
            <a:avLst/>
          </a:prstGeom>
          <a:solidFill>
            <a:srgbClr val="EDF1F9"/>
          </a:solidFill>
          <a:ln w="12700">
            <a:solidFill>
              <a:srgbClr val="D9E2EC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48A53D-942E-4FF2-CB5D-F3975CCA3F36}"/>
              </a:ext>
            </a:extLst>
          </p:cNvPr>
          <p:cNvSpPr/>
          <p:nvPr/>
        </p:nvSpPr>
        <p:spPr>
          <a:xfrm rot="16200000">
            <a:off x="-3380175" y="3380170"/>
            <a:ext cx="6858002" cy="97656"/>
          </a:xfrm>
          <a:prstGeom prst="rect">
            <a:avLst/>
          </a:prstGeom>
          <a:solidFill>
            <a:srgbClr val="00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4">
            <a:extLst>
              <a:ext uri="{FF2B5EF4-FFF2-40B4-BE49-F238E27FC236}">
                <a16:creationId xmlns:a16="http://schemas.microsoft.com/office/drawing/2014/main" id="{D1FE013C-3132-75F4-0A04-C5D45B8D8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020098"/>
              </p:ext>
            </p:extLst>
          </p:nvPr>
        </p:nvGraphicFramePr>
        <p:xfrm>
          <a:off x="4387708" y="1262231"/>
          <a:ext cx="3807700" cy="3732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4">
            <a:extLst>
              <a:ext uri="{FF2B5EF4-FFF2-40B4-BE49-F238E27FC236}">
                <a16:creationId xmlns:a16="http://schemas.microsoft.com/office/drawing/2014/main" id="{865B4822-D05B-EEC0-356E-E9ECD414F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087472"/>
              </p:ext>
            </p:extLst>
          </p:nvPr>
        </p:nvGraphicFramePr>
        <p:xfrm>
          <a:off x="8095949" y="1262230"/>
          <a:ext cx="3807700" cy="3732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AC4AF97E-D660-41A7-0601-D03C8A49F238}"/>
              </a:ext>
            </a:extLst>
          </p:cNvPr>
          <p:cNvSpPr txBox="1"/>
          <p:nvPr/>
        </p:nvSpPr>
        <p:spPr>
          <a:xfrm>
            <a:off x="773589" y="5347488"/>
            <a:ext cx="8232388" cy="1255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4963"/>
                </a:solidFill>
              </a:defRPr>
            </a:pPr>
            <a:r>
              <a:rPr lang="fr-F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Points clés :</a:t>
            </a:r>
          </a:p>
          <a:p>
            <a:pPr marL="171450" indent="-171450" algn="ctr">
              <a:buFont typeface="Arial" panose="020B0604020202020204" pitchFamily="34" charset="0"/>
              <a:buChar char="•"/>
              <a:defRPr sz="1400" b="1">
                <a:solidFill>
                  <a:srgbClr val="134963"/>
                </a:solidFill>
              </a:defRPr>
            </a:pPr>
            <a:endParaRPr lang="fr-FR" sz="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lnSpc>
                <a:spcPct val="105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200">
                <a:solidFill>
                  <a:srgbClr val="134963"/>
                </a:solidFill>
              </a:defRPr>
            </a:pPr>
            <a:r>
              <a:rPr lang="fr-F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2025 : RAM (19,8 M MAD)</a:t>
            </a:r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renforce nettement sa présence vs 2024 (</a:t>
            </a:r>
            <a:r>
              <a:rPr lang="fr-F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10,0 M</a:t>
            </a:r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171450" indent="-171450">
              <a:lnSpc>
                <a:spcPct val="105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200">
                <a:solidFill>
                  <a:srgbClr val="134963"/>
                </a:solidFill>
              </a:defRPr>
            </a:pPr>
            <a:r>
              <a:rPr lang="fr-F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Concentration forte :</a:t>
            </a:r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le </a:t>
            </a:r>
            <a:r>
              <a:rPr lang="fr-F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Top 3 (RAM 19,8 + Air Arabia 7,9 + Emirates 5,9)</a:t>
            </a:r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pèse </a:t>
            </a:r>
            <a:r>
              <a:rPr lang="fr-F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~85%</a:t>
            </a:r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des investissements 2025</a:t>
            </a:r>
          </a:p>
          <a:p>
            <a:pPr marL="171450" indent="-171450">
              <a:lnSpc>
                <a:spcPct val="105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200">
                <a:solidFill>
                  <a:srgbClr val="134963"/>
                </a:solidFill>
              </a:defRPr>
            </a:pPr>
            <a:r>
              <a:rPr lang="fr-F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Challengers installés :</a:t>
            </a:r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F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Turkish Airlines (3,1 M)</a:t>
            </a:r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171450" indent="-171450">
              <a:lnSpc>
                <a:spcPct val="105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200">
                <a:solidFill>
                  <a:srgbClr val="134963"/>
                </a:solidFill>
              </a:defRPr>
            </a:pPr>
            <a:r>
              <a:rPr lang="fr-F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Opportunité :</a:t>
            </a:r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le reste des annonceurs est </a:t>
            </a:r>
            <a:r>
              <a:rPr lang="fr-F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&lt; 1 M MAD chacun </a:t>
            </a:r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→ </a:t>
            </a:r>
            <a:r>
              <a:rPr lang="fr-F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fenêtre d’opportunité</a:t>
            </a:r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pour émerger.</a:t>
            </a:r>
            <a:endParaRPr lang="fr-F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653886"/>
            <a:ext cx="39090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sz="1400" dirty="0">
                <a:solidFill>
                  <a:srgbClr val="2563EB"/>
                </a:solidFill>
              </a:rPr>
              <a:t>FY 202</a:t>
            </a:r>
            <a:r>
              <a:rPr lang="fr-FR" sz="1400" dirty="0">
                <a:solidFill>
                  <a:srgbClr val="2563EB"/>
                </a:solidFill>
              </a:rPr>
              <a:t>3</a:t>
            </a:r>
            <a:r>
              <a:rPr sz="1400" dirty="0">
                <a:solidFill>
                  <a:srgbClr val="2563EB"/>
                </a:solidFill>
              </a:rPr>
              <a:t>–2025 | Millions MAD </a:t>
            </a:r>
            <a:r>
              <a:rPr lang="de-DE" sz="1400" dirty="0">
                <a:solidFill>
                  <a:srgbClr val="2563EB"/>
                </a:solidFill>
              </a:rPr>
              <a:t>| Source : Imperium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6675120" cy="2651760"/>
          </a:xfrm>
          <a:prstGeom prst="roundRect">
            <a:avLst/>
          </a:prstGeom>
          <a:solidFill>
            <a:srgbClr val="F5F8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06640" y="1097280"/>
            <a:ext cx="4206240" cy="2651760"/>
          </a:xfrm>
          <a:prstGeom prst="roundRect">
            <a:avLst/>
          </a:prstGeom>
          <a:solidFill>
            <a:srgbClr val="F5F8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3886200"/>
            <a:ext cx="7406640" cy="2514600"/>
          </a:xfrm>
          <a:prstGeom prst="roundRect">
            <a:avLst/>
          </a:prstGeom>
          <a:solidFill>
            <a:srgbClr val="EDF1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2440" y="3886200"/>
            <a:ext cx="3520440" cy="2514600"/>
          </a:xfrm>
          <a:prstGeom prst="roundRect">
            <a:avLst/>
          </a:prstGeom>
          <a:solidFill>
            <a:srgbClr val="EDF1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216152"/>
            <a:ext cx="19220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/>
              <a:t>Investissements OOH (AF)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635240" y="1216152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t>Répartition 2025 par ville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/>
              <a:t>Top annonceurs OOH (FY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959352"/>
            <a:ext cx="8572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Points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clés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323789"/>
              </p:ext>
            </p:extLst>
          </p:nvPr>
        </p:nvGraphicFramePr>
        <p:xfrm>
          <a:off x="868680" y="1508760"/>
          <a:ext cx="63093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3">
            <a:extLst>
              <a:ext uri="{FF2B5EF4-FFF2-40B4-BE49-F238E27FC236}">
                <a16:creationId xmlns:a16="http://schemas.microsoft.com/office/drawing/2014/main" id="{9DD786AB-7E9D-142C-4116-06FDC3DDB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936574"/>
              </p:ext>
            </p:extLst>
          </p:nvPr>
        </p:nvGraphicFramePr>
        <p:xfrm>
          <a:off x="777240" y="4279392"/>
          <a:ext cx="7178040" cy="2043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81D6DF6-3FD9-D28B-18C6-979AB16C8C5D}"/>
              </a:ext>
            </a:extLst>
          </p:cNvPr>
          <p:cNvSpPr/>
          <p:nvPr/>
        </p:nvSpPr>
        <p:spPr>
          <a:xfrm>
            <a:off x="10023893" y="1405497"/>
            <a:ext cx="1130061" cy="2252103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 dirty="0"/>
          </a:p>
        </p:txBody>
      </p:sp>
      <p:graphicFrame>
        <p:nvGraphicFramePr>
          <p:cNvPr id="19" name="Chart 12">
            <a:extLst>
              <a:ext uri="{FF2B5EF4-FFF2-40B4-BE49-F238E27FC236}">
                <a16:creationId xmlns:a16="http://schemas.microsoft.com/office/drawing/2014/main" id="{7F210DCA-89CE-140A-6FE3-124676ACC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3818"/>
              </p:ext>
            </p:extLst>
          </p:nvPr>
        </p:nvGraphicFramePr>
        <p:xfrm>
          <a:off x="6437376" y="1405497"/>
          <a:ext cx="5425440" cy="2440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9933796E-01B8-5EF7-CCB9-7AC152F1C38F}"/>
              </a:ext>
            </a:extLst>
          </p:cNvPr>
          <p:cNvSpPr/>
          <p:nvPr/>
        </p:nvSpPr>
        <p:spPr>
          <a:xfrm rot="16200000">
            <a:off x="-3380175" y="3380170"/>
            <a:ext cx="6858002" cy="97656"/>
          </a:xfrm>
          <a:prstGeom prst="rect">
            <a:avLst/>
          </a:prstGeom>
          <a:solidFill>
            <a:srgbClr val="00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174196B-6F6D-EC3C-AEF8-8A31CA7FB672}"/>
              </a:ext>
            </a:extLst>
          </p:cNvPr>
          <p:cNvSpPr txBox="1"/>
          <p:nvPr/>
        </p:nvSpPr>
        <p:spPr>
          <a:xfrm>
            <a:off x="4028751" y="4267980"/>
            <a:ext cx="16733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AFFICHAGE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6D556B56-4F02-3F49-C510-96CA2F115FD0}"/>
              </a:ext>
            </a:extLst>
          </p:cNvPr>
          <p:cNvSpPr txBox="1"/>
          <p:nvPr/>
        </p:nvSpPr>
        <p:spPr>
          <a:xfrm>
            <a:off x="8177665" y="4206240"/>
            <a:ext cx="3389495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Affichage 2025 : 10,5 M MAD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niveau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stable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(vs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9,8 M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en 2023 et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11,5 M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en 2024).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Répartition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ville 2025 : Casablanca #1 (34%)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puis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Oujda (12%)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et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Marrakech (9%)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une présence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multi-villes.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Top annonceurs Affichage 2025 :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Air Arabia (4,9 M)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en tête, suivie de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RAM (2,1 M)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et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TUI Fly (1,4 M)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le Top 3 pèse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~80%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l’OOH.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Opportunité :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l’Affichage est un terrain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très actif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pour le secteur (visibilité + couverture géographique) =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fenêtre pour émerger.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F3CB810D-214F-C28B-5CF0-E798F717AE32}"/>
              </a:ext>
            </a:extLst>
          </p:cNvPr>
          <p:cNvSpPr/>
          <p:nvPr/>
        </p:nvSpPr>
        <p:spPr>
          <a:xfrm>
            <a:off x="502920" y="231708"/>
            <a:ext cx="100466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 média AFFICHAGE (OOH) - Compagnies Aériennes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8AD32-38E6-C188-EFD8-05B99193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AE8C0E-FE40-0265-B811-D4669DB2FEC8}"/>
              </a:ext>
            </a:extLst>
          </p:cNvPr>
          <p:cNvSpPr txBox="1"/>
          <p:nvPr/>
        </p:nvSpPr>
        <p:spPr>
          <a:xfrm>
            <a:off x="548640" y="671656"/>
            <a:ext cx="39090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sz="1400" dirty="0">
                <a:solidFill>
                  <a:srgbClr val="2563EB"/>
                </a:solidFill>
              </a:rPr>
              <a:t>FY 202</a:t>
            </a:r>
            <a:r>
              <a:rPr lang="fr-FR" sz="1400" dirty="0">
                <a:solidFill>
                  <a:srgbClr val="2563EB"/>
                </a:solidFill>
              </a:rPr>
              <a:t>3</a:t>
            </a:r>
            <a:r>
              <a:rPr sz="1400" dirty="0">
                <a:solidFill>
                  <a:srgbClr val="2563EB"/>
                </a:solidFill>
              </a:rPr>
              <a:t>–2025 | Millions MAD </a:t>
            </a:r>
            <a:r>
              <a:rPr lang="de-DE" sz="1400" dirty="0">
                <a:solidFill>
                  <a:srgbClr val="2563EB"/>
                </a:solidFill>
              </a:rPr>
              <a:t>| Source : Imperium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8502A0-1B5B-CDA8-F58D-9C27199E5A85}"/>
              </a:ext>
            </a:extLst>
          </p:cNvPr>
          <p:cNvSpPr/>
          <p:nvPr/>
        </p:nvSpPr>
        <p:spPr>
          <a:xfrm>
            <a:off x="548640" y="1097280"/>
            <a:ext cx="6675120" cy="2651760"/>
          </a:xfrm>
          <a:prstGeom prst="roundRect">
            <a:avLst/>
          </a:prstGeom>
          <a:solidFill>
            <a:srgbClr val="F5F8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E410D6F-8E30-79B9-DB84-B270FC40CDC9}"/>
              </a:ext>
            </a:extLst>
          </p:cNvPr>
          <p:cNvSpPr/>
          <p:nvPr/>
        </p:nvSpPr>
        <p:spPr>
          <a:xfrm>
            <a:off x="7406640" y="1097280"/>
            <a:ext cx="4206240" cy="2651760"/>
          </a:xfrm>
          <a:prstGeom prst="roundRect">
            <a:avLst/>
          </a:prstGeom>
          <a:solidFill>
            <a:srgbClr val="F5F8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9AA7F0-6172-3B00-F2A1-0A7E9D1E27F0}"/>
              </a:ext>
            </a:extLst>
          </p:cNvPr>
          <p:cNvSpPr/>
          <p:nvPr/>
        </p:nvSpPr>
        <p:spPr>
          <a:xfrm>
            <a:off x="548640" y="3886200"/>
            <a:ext cx="7178040" cy="2514600"/>
          </a:xfrm>
          <a:prstGeom prst="roundRect">
            <a:avLst/>
          </a:prstGeom>
          <a:solidFill>
            <a:srgbClr val="EDF1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E153A26-1734-E30B-B2CD-E357B4CA49EB}"/>
              </a:ext>
            </a:extLst>
          </p:cNvPr>
          <p:cNvSpPr/>
          <p:nvPr/>
        </p:nvSpPr>
        <p:spPr>
          <a:xfrm>
            <a:off x="7955280" y="3886200"/>
            <a:ext cx="3657600" cy="2514600"/>
          </a:xfrm>
          <a:prstGeom prst="roundRect">
            <a:avLst/>
          </a:prstGeom>
          <a:solidFill>
            <a:srgbClr val="EDF1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586FB-D7DE-B8BD-C198-6BBF05422209}"/>
              </a:ext>
            </a:extLst>
          </p:cNvPr>
          <p:cNvSpPr txBox="1"/>
          <p:nvPr/>
        </p:nvSpPr>
        <p:spPr>
          <a:xfrm>
            <a:off x="777240" y="1216152"/>
            <a:ext cx="16398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Investissements 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Radio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A589B7-161A-8D53-5641-2FAD5EDA2EB9}"/>
              </a:ext>
            </a:extLst>
          </p:cNvPr>
          <p:cNvSpPr txBox="1"/>
          <p:nvPr/>
        </p:nvSpPr>
        <p:spPr>
          <a:xfrm>
            <a:off x="7635240" y="1199374"/>
            <a:ext cx="20435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Répartition 2025 par support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9E4E78-5045-BAE7-DC60-A43C08ADCD52}"/>
              </a:ext>
            </a:extLst>
          </p:cNvPr>
          <p:cNvSpPr txBox="1"/>
          <p:nvPr/>
        </p:nvSpPr>
        <p:spPr>
          <a:xfrm>
            <a:off x="777240" y="4005072"/>
            <a:ext cx="20482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/>
              <a:t>Top annonceurs </a:t>
            </a:r>
            <a:r>
              <a:rPr lang="fr-FR" dirty="0"/>
              <a:t>RD</a:t>
            </a:r>
            <a:r>
              <a:rPr dirty="0"/>
              <a:t> (FY 2025)</a:t>
            </a:r>
          </a:p>
        </p:txBody>
      </p:sp>
      <p:graphicFrame>
        <p:nvGraphicFramePr>
          <p:cNvPr id="17" name="Chart 12">
            <a:extLst>
              <a:ext uri="{FF2B5EF4-FFF2-40B4-BE49-F238E27FC236}">
                <a16:creationId xmlns:a16="http://schemas.microsoft.com/office/drawing/2014/main" id="{35D5B63A-9F66-0F8D-3288-B72ED3568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453648"/>
              </p:ext>
            </p:extLst>
          </p:nvPr>
        </p:nvGraphicFramePr>
        <p:xfrm>
          <a:off x="6551875" y="1313617"/>
          <a:ext cx="5448964" cy="2280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B5DB61D6-FA30-29EB-B9A3-1E376A6FFF80}"/>
              </a:ext>
            </a:extLst>
          </p:cNvPr>
          <p:cNvSpPr/>
          <p:nvPr/>
        </p:nvSpPr>
        <p:spPr>
          <a:xfrm rot="16200000">
            <a:off x="-3380175" y="3380170"/>
            <a:ext cx="6858002" cy="97656"/>
          </a:xfrm>
          <a:prstGeom prst="rect">
            <a:avLst/>
          </a:prstGeom>
          <a:solidFill>
            <a:srgbClr val="00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Chart 13">
            <a:extLst>
              <a:ext uri="{FF2B5EF4-FFF2-40B4-BE49-F238E27FC236}">
                <a16:creationId xmlns:a16="http://schemas.microsoft.com/office/drawing/2014/main" id="{2F81D0FC-9B9E-B484-2BD1-A52894E18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242704"/>
              </p:ext>
            </p:extLst>
          </p:nvPr>
        </p:nvGraphicFramePr>
        <p:xfrm>
          <a:off x="777240" y="4041250"/>
          <a:ext cx="6710488" cy="2281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1">
            <a:extLst>
              <a:ext uri="{FF2B5EF4-FFF2-40B4-BE49-F238E27FC236}">
                <a16:creationId xmlns:a16="http://schemas.microsoft.com/office/drawing/2014/main" id="{1980C8BB-9CDB-841C-B25A-3D12CAB0E9E2}"/>
              </a:ext>
            </a:extLst>
          </p:cNvPr>
          <p:cNvSpPr txBox="1"/>
          <p:nvPr/>
        </p:nvSpPr>
        <p:spPr>
          <a:xfrm>
            <a:off x="8275320" y="3959352"/>
            <a:ext cx="8572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Points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clés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6DBA2330-E10D-D6FD-51B2-87B8AB05BA0C}"/>
              </a:ext>
            </a:extLst>
          </p:cNvPr>
          <p:cNvSpPr txBox="1"/>
          <p:nvPr/>
        </p:nvSpPr>
        <p:spPr>
          <a:xfrm>
            <a:off x="8177665" y="4224528"/>
            <a:ext cx="3389495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Radio 2025 : 24,3 M MAD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plus haut niveau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sur 2023–2025 : la radio est un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pilier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du secteur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Répartition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radios 2025 : 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mix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multi-stations avec 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une légère concentration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Luxe Radio 32%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Medina FM 21%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Cap Radio 15%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Top 3 = 68%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fr-FR" sz="11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Annonceurs Radio 2025 :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seulement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 annonceurs actifs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Opportunité :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un marché radio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peu encombré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(4 annonceurs) et une pression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concentrée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sur quelques stations.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B748241A-672A-2C6E-A79C-3DB11B22D3D6}"/>
              </a:ext>
            </a:extLst>
          </p:cNvPr>
          <p:cNvSpPr/>
          <p:nvPr/>
        </p:nvSpPr>
        <p:spPr>
          <a:xfrm>
            <a:off x="502920" y="231708"/>
            <a:ext cx="8851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 média RADIO - Compagnies Aériennes</a:t>
            </a:r>
            <a:endParaRPr lang="en-US" sz="2800" dirty="0"/>
          </a:p>
        </p:txBody>
      </p:sp>
      <p:graphicFrame>
        <p:nvGraphicFramePr>
          <p:cNvPr id="2" name="Chart 12">
            <a:extLst>
              <a:ext uri="{FF2B5EF4-FFF2-40B4-BE49-F238E27FC236}">
                <a16:creationId xmlns:a16="http://schemas.microsoft.com/office/drawing/2014/main" id="{F9DC32D5-3315-9823-4A0F-D8CCD86B3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945817"/>
              </p:ext>
            </p:extLst>
          </p:nvPr>
        </p:nvGraphicFramePr>
        <p:xfrm>
          <a:off x="868679" y="1280787"/>
          <a:ext cx="5963442" cy="2313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9">
            <a:extLst>
              <a:ext uri="{FF2B5EF4-FFF2-40B4-BE49-F238E27FC236}">
                <a16:creationId xmlns:a16="http://schemas.microsoft.com/office/drawing/2014/main" id="{64A5ABB1-732A-1F85-E73E-A084F6A2424D}"/>
              </a:ext>
            </a:extLst>
          </p:cNvPr>
          <p:cNvSpPr txBox="1"/>
          <p:nvPr/>
        </p:nvSpPr>
        <p:spPr>
          <a:xfrm rot="16200000">
            <a:off x="426823" y="1948472"/>
            <a:ext cx="7008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Millions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31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FDE9-DD73-67EA-1FD5-A9530AFF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B494D6-F84D-DB20-A45B-0BF487D127AD}"/>
              </a:ext>
            </a:extLst>
          </p:cNvPr>
          <p:cNvSpPr txBox="1"/>
          <p:nvPr/>
        </p:nvSpPr>
        <p:spPr>
          <a:xfrm>
            <a:off x="548640" y="671656"/>
            <a:ext cx="39090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sz="1400" dirty="0">
                <a:solidFill>
                  <a:srgbClr val="2563EB"/>
                </a:solidFill>
              </a:rPr>
              <a:t>FY 202</a:t>
            </a:r>
            <a:r>
              <a:rPr lang="fr-FR" sz="1400" dirty="0">
                <a:solidFill>
                  <a:srgbClr val="2563EB"/>
                </a:solidFill>
              </a:rPr>
              <a:t>3</a:t>
            </a:r>
            <a:r>
              <a:rPr sz="1400" dirty="0">
                <a:solidFill>
                  <a:srgbClr val="2563EB"/>
                </a:solidFill>
              </a:rPr>
              <a:t>–2025 | Millions MAD </a:t>
            </a:r>
            <a:r>
              <a:rPr lang="de-DE" sz="1400" dirty="0">
                <a:solidFill>
                  <a:srgbClr val="2563EB"/>
                </a:solidFill>
              </a:rPr>
              <a:t>| Source : Imperium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EE51DE-3CED-F21B-CAF8-ED925A74D733}"/>
              </a:ext>
            </a:extLst>
          </p:cNvPr>
          <p:cNvSpPr/>
          <p:nvPr/>
        </p:nvSpPr>
        <p:spPr>
          <a:xfrm>
            <a:off x="548640" y="1097280"/>
            <a:ext cx="6675120" cy="2651760"/>
          </a:xfrm>
          <a:prstGeom prst="roundRect">
            <a:avLst/>
          </a:prstGeom>
          <a:solidFill>
            <a:srgbClr val="F5F8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BB49F9-6E17-9F31-B878-A1A1D869ADF2}"/>
              </a:ext>
            </a:extLst>
          </p:cNvPr>
          <p:cNvSpPr/>
          <p:nvPr/>
        </p:nvSpPr>
        <p:spPr>
          <a:xfrm>
            <a:off x="7406640" y="1097280"/>
            <a:ext cx="4206240" cy="2651760"/>
          </a:xfrm>
          <a:prstGeom prst="roundRect">
            <a:avLst/>
          </a:prstGeom>
          <a:solidFill>
            <a:srgbClr val="F5F8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2EE134-6071-ACFF-CAD6-C671BDCD7BDF}"/>
              </a:ext>
            </a:extLst>
          </p:cNvPr>
          <p:cNvSpPr/>
          <p:nvPr/>
        </p:nvSpPr>
        <p:spPr>
          <a:xfrm>
            <a:off x="548640" y="3886200"/>
            <a:ext cx="7178040" cy="2514600"/>
          </a:xfrm>
          <a:prstGeom prst="roundRect">
            <a:avLst/>
          </a:prstGeom>
          <a:solidFill>
            <a:srgbClr val="EDF1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CBCCE50-C8D6-CDF8-A616-2812CAE4D98A}"/>
              </a:ext>
            </a:extLst>
          </p:cNvPr>
          <p:cNvSpPr/>
          <p:nvPr/>
        </p:nvSpPr>
        <p:spPr>
          <a:xfrm>
            <a:off x="7955280" y="3886200"/>
            <a:ext cx="3657600" cy="2514600"/>
          </a:xfrm>
          <a:prstGeom prst="roundRect">
            <a:avLst/>
          </a:prstGeom>
          <a:solidFill>
            <a:srgbClr val="EDF1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63A17A-AC68-37F9-BD67-CA57F82B3F67}"/>
              </a:ext>
            </a:extLst>
          </p:cNvPr>
          <p:cNvSpPr/>
          <p:nvPr/>
        </p:nvSpPr>
        <p:spPr>
          <a:xfrm rot="16200000">
            <a:off x="-3380175" y="3380170"/>
            <a:ext cx="6858002" cy="97656"/>
          </a:xfrm>
          <a:prstGeom prst="rect">
            <a:avLst/>
          </a:prstGeom>
          <a:solidFill>
            <a:srgbClr val="00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4ABCACF4-2A32-A746-AD9B-A572C335868D}"/>
              </a:ext>
            </a:extLst>
          </p:cNvPr>
          <p:cNvSpPr/>
          <p:nvPr/>
        </p:nvSpPr>
        <p:spPr>
          <a:xfrm>
            <a:off x="502920" y="231708"/>
            <a:ext cx="8851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 média TV - Compagnies Aériennes</a:t>
            </a:r>
            <a:endParaRPr lang="en-US" sz="2800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A2A9E229-A28F-AA7D-86ED-09EC12FB3949}"/>
              </a:ext>
            </a:extLst>
          </p:cNvPr>
          <p:cNvSpPr txBox="1"/>
          <p:nvPr/>
        </p:nvSpPr>
        <p:spPr>
          <a:xfrm>
            <a:off x="777240" y="1216152"/>
            <a:ext cx="152881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Investissements 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Télé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48227698-C782-122F-EF01-9E53C55344FE}"/>
              </a:ext>
            </a:extLst>
          </p:cNvPr>
          <p:cNvSpPr txBox="1"/>
          <p:nvPr/>
        </p:nvSpPr>
        <p:spPr>
          <a:xfrm>
            <a:off x="7635240" y="1199374"/>
            <a:ext cx="20419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Répartition 2025 par 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Chaines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6" name="Chart 12">
            <a:extLst>
              <a:ext uri="{FF2B5EF4-FFF2-40B4-BE49-F238E27FC236}">
                <a16:creationId xmlns:a16="http://schemas.microsoft.com/office/drawing/2014/main" id="{CE8AFBB9-8BD9-316A-B743-8D5A18479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115764"/>
              </p:ext>
            </p:extLst>
          </p:nvPr>
        </p:nvGraphicFramePr>
        <p:xfrm>
          <a:off x="6551875" y="1313617"/>
          <a:ext cx="5448964" cy="2280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1">
            <a:extLst>
              <a:ext uri="{FF2B5EF4-FFF2-40B4-BE49-F238E27FC236}">
                <a16:creationId xmlns:a16="http://schemas.microsoft.com/office/drawing/2014/main" id="{41733FC4-4DF5-6063-8E13-020EA5DF5A3D}"/>
              </a:ext>
            </a:extLst>
          </p:cNvPr>
          <p:cNvSpPr txBox="1"/>
          <p:nvPr/>
        </p:nvSpPr>
        <p:spPr>
          <a:xfrm>
            <a:off x="8275320" y="3959352"/>
            <a:ext cx="8572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Points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clés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22" name="Chart 12">
            <a:extLst>
              <a:ext uri="{FF2B5EF4-FFF2-40B4-BE49-F238E27FC236}">
                <a16:creationId xmlns:a16="http://schemas.microsoft.com/office/drawing/2014/main" id="{E0A22337-3D1F-4585-9D11-E9D5B42E8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647252"/>
              </p:ext>
            </p:extLst>
          </p:nvPr>
        </p:nvGraphicFramePr>
        <p:xfrm>
          <a:off x="868680" y="1508760"/>
          <a:ext cx="63093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Rectangle 3">
            <a:extLst>
              <a:ext uri="{FF2B5EF4-FFF2-40B4-BE49-F238E27FC236}">
                <a16:creationId xmlns:a16="http://schemas.microsoft.com/office/drawing/2014/main" id="{47D6DC3E-0B8F-6E07-D341-8E5BBD525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3901" y="4313295"/>
            <a:ext cx="36576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TV  2025 :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fr-FR" altLang="fr-FR" sz="1000" dirty="0"/>
              <a:t>la TV reste toujours un levier très  fort ,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baisse légère mais continue sur 3 ans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fr-FR" altLang="fr-F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Répartition chaînes 2025 :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mix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très concentré sur 2M (~69%)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puis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 Aoula (~18%)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; le reste est fragmenté (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Telemaroc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/Arryadia/Medi1Sat…).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fr-FR" altLang="fr-F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 dirty="0" err="1"/>
              <a:t>Wana</a:t>
            </a:r>
            <a:r>
              <a:rPr lang="fr-FR" sz="1000" dirty="0"/>
              <a:t> : baisse progressive </a:t>
            </a:r>
            <a:r>
              <a:rPr lang="fr-FR" sz="1000" b="1" dirty="0"/>
              <a:t>161 → 129 → 118 M</a:t>
            </a:r>
            <a:r>
              <a:rPr lang="fr-FR" sz="1000" dirty="0"/>
              <a:t> (reste #1).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 dirty="0"/>
              <a:t>Maroc Telecom</a:t>
            </a:r>
            <a:r>
              <a:rPr lang="fr-FR" sz="1000" dirty="0"/>
              <a:t> : baisse plus nette </a:t>
            </a:r>
            <a:r>
              <a:rPr lang="fr-FR" sz="1000" b="1" dirty="0"/>
              <a:t>146 → 126 → 99 M</a:t>
            </a:r>
            <a:r>
              <a:rPr lang="fr-FR" sz="1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 dirty="0"/>
              <a:t>Medi Telecom</a:t>
            </a:r>
            <a:r>
              <a:rPr lang="fr-FR" sz="1000" dirty="0"/>
              <a:t> : </a:t>
            </a:r>
            <a:r>
              <a:rPr lang="fr-FR" sz="1000" b="1" dirty="0"/>
              <a:t>résilience</a:t>
            </a:r>
            <a:r>
              <a:rPr lang="fr-FR" sz="1000" dirty="0"/>
              <a:t> et quasi-stabilité </a:t>
            </a:r>
            <a:r>
              <a:rPr lang="fr-FR" sz="1000" b="1" dirty="0"/>
              <a:t>105 → 114 → 99M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b="1" dirty="0"/>
              <a:t>Saisonnalité :</a:t>
            </a:r>
            <a:r>
              <a:rPr lang="fr-FR" sz="1000" dirty="0"/>
              <a:t> un </a:t>
            </a:r>
            <a:r>
              <a:rPr lang="fr-FR" sz="1000" b="1" dirty="0"/>
              <a:t>pic fort en mars</a:t>
            </a:r>
            <a:r>
              <a:rPr lang="fr-FR" sz="1000" dirty="0"/>
              <a:t> (très visible en 2025), puis un niveau plus régulier avec </a:t>
            </a:r>
            <a:r>
              <a:rPr lang="fr-FR" sz="1000" b="1" dirty="0"/>
              <a:t>rebond en fin d’année (décembre)</a:t>
            </a:r>
            <a:r>
              <a:rPr lang="fr-FR" sz="1000" dirty="0"/>
              <a:t>.</a:t>
            </a:r>
            <a:endParaRPr kumimoji="0" lang="fr-FR" altLang="fr-F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26" name="Chart 13">
            <a:extLst>
              <a:ext uri="{FF2B5EF4-FFF2-40B4-BE49-F238E27FC236}">
                <a16:creationId xmlns:a16="http://schemas.microsoft.com/office/drawing/2014/main" id="{3F10F671-83B9-FFB0-0516-2AF1F2EEC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247705"/>
              </p:ext>
            </p:extLst>
          </p:nvPr>
        </p:nvGraphicFramePr>
        <p:xfrm>
          <a:off x="777240" y="4041250"/>
          <a:ext cx="6710488" cy="2281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Box 10">
            <a:extLst>
              <a:ext uri="{FF2B5EF4-FFF2-40B4-BE49-F238E27FC236}">
                <a16:creationId xmlns:a16="http://schemas.microsoft.com/office/drawing/2014/main" id="{F64DB33E-6EFC-3AB0-C4F8-C112152F4DD4}"/>
              </a:ext>
            </a:extLst>
          </p:cNvPr>
          <p:cNvSpPr txBox="1"/>
          <p:nvPr/>
        </p:nvSpPr>
        <p:spPr>
          <a:xfrm>
            <a:off x="777240" y="4005072"/>
            <a:ext cx="20322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/>
              <a:t>Top annonceurs </a:t>
            </a:r>
            <a:r>
              <a:rPr lang="fr-FR" dirty="0"/>
              <a:t>TV</a:t>
            </a:r>
            <a:r>
              <a:rPr dirty="0"/>
              <a:t> (FY 2025)</a:t>
            </a:r>
          </a:p>
        </p:txBody>
      </p:sp>
    </p:spTree>
    <p:extLst>
      <p:ext uri="{BB962C8B-B14F-4D97-AF65-F5344CB8AC3E}">
        <p14:creationId xmlns:p14="http://schemas.microsoft.com/office/powerpoint/2010/main" val="4089823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F5A0A-A323-6343-397E-15E9D444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D49904-47FD-B34F-A61B-6CFE5ECD72A5}"/>
              </a:ext>
            </a:extLst>
          </p:cNvPr>
          <p:cNvSpPr txBox="1"/>
          <p:nvPr/>
        </p:nvSpPr>
        <p:spPr>
          <a:xfrm>
            <a:off x="548640" y="671656"/>
            <a:ext cx="39090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sz="1400" dirty="0">
                <a:solidFill>
                  <a:srgbClr val="2563EB"/>
                </a:solidFill>
              </a:rPr>
              <a:t>FY 202</a:t>
            </a:r>
            <a:r>
              <a:rPr lang="fr-FR" sz="1400" dirty="0">
                <a:solidFill>
                  <a:srgbClr val="2563EB"/>
                </a:solidFill>
              </a:rPr>
              <a:t>3</a:t>
            </a:r>
            <a:r>
              <a:rPr sz="1400" dirty="0">
                <a:solidFill>
                  <a:srgbClr val="2563EB"/>
                </a:solidFill>
              </a:rPr>
              <a:t>–2025 | Millions MAD </a:t>
            </a:r>
            <a:r>
              <a:rPr lang="de-DE" sz="1400" dirty="0">
                <a:solidFill>
                  <a:srgbClr val="2563EB"/>
                </a:solidFill>
              </a:rPr>
              <a:t>| Source : Imperium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20C8EF-B762-C851-78F2-5E7CB4683D9A}"/>
              </a:ext>
            </a:extLst>
          </p:cNvPr>
          <p:cNvSpPr/>
          <p:nvPr/>
        </p:nvSpPr>
        <p:spPr>
          <a:xfrm>
            <a:off x="548640" y="1097280"/>
            <a:ext cx="6675120" cy="2651760"/>
          </a:xfrm>
          <a:prstGeom prst="roundRect">
            <a:avLst/>
          </a:prstGeom>
          <a:solidFill>
            <a:srgbClr val="F5F8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16C5531-94C9-5BBF-DADB-5D38FF285BFC}"/>
              </a:ext>
            </a:extLst>
          </p:cNvPr>
          <p:cNvSpPr/>
          <p:nvPr/>
        </p:nvSpPr>
        <p:spPr>
          <a:xfrm>
            <a:off x="7406640" y="1097280"/>
            <a:ext cx="4206240" cy="2651760"/>
          </a:xfrm>
          <a:prstGeom prst="roundRect">
            <a:avLst/>
          </a:prstGeom>
          <a:solidFill>
            <a:srgbClr val="F5F8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CC80438-E4FD-EA1F-84BB-F29A5B5EA8FF}"/>
              </a:ext>
            </a:extLst>
          </p:cNvPr>
          <p:cNvSpPr/>
          <p:nvPr/>
        </p:nvSpPr>
        <p:spPr>
          <a:xfrm>
            <a:off x="548640" y="3886200"/>
            <a:ext cx="7178040" cy="2514600"/>
          </a:xfrm>
          <a:prstGeom prst="roundRect">
            <a:avLst/>
          </a:prstGeom>
          <a:solidFill>
            <a:srgbClr val="EDF1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0DBBF5-5AEC-EB80-1000-40DC988D85FD}"/>
              </a:ext>
            </a:extLst>
          </p:cNvPr>
          <p:cNvSpPr/>
          <p:nvPr/>
        </p:nvSpPr>
        <p:spPr>
          <a:xfrm>
            <a:off x="7955280" y="3886200"/>
            <a:ext cx="3657600" cy="2514600"/>
          </a:xfrm>
          <a:prstGeom prst="roundRect">
            <a:avLst/>
          </a:prstGeom>
          <a:solidFill>
            <a:srgbClr val="EDF1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0B5501-9CEB-5FCA-C098-8848BE8D1DCF}"/>
              </a:ext>
            </a:extLst>
          </p:cNvPr>
          <p:cNvSpPr txBox="1"/>
          <p:nvPr/>
        </p:nvSpPr>
        <p:spPr>
          <a:xfrm>
            <a:off x="777240" y="1216152"/>
            <a:ext cx="152881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Investissements 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Télé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F5EF9-9372-1FD2-EF10-13ECF6E1A986}"/>
              </a:ext>
            </a:extLst>
          </p:cNvPr>
          <p:cNvSpPr txBox="1"/>
          <p:nvPr/>
        </p:nvSpPr>
        <p:spPr>
          <a:xfrm>
            <a:off x="7635240" y="1199374"/>
            <a:ext cx="20435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Répartition 2025 par support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E94F8A-F0F8-C397-07AA-D9AFC800D768}"/>
              </a:ext>
            </a:extLst>
          </p:cNvPr>
          <p:cNvSpPr txBox="1"/>
          <p:nvPr/>
        </p:nvSpPr>
        <p:spPr>
          <a:xfrm>
            <a:off x="777240" y="4005072"/>
            <a:ext cx="20322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Top annonceurs 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TV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(FY 2025)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645C51B-6285-6182-7C09-BA773EA87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855673"/>
              </p:ext>
            </p:extLst>
          </p:nvPr>
        </p:nvGraphicFramePr>
        <p:xfrm>
          <a:off x="868680" y="1508760"/>
          <a:ext cx="63093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2">
            <a:extLst>
              <a:ext uri="{FF2B5EF4-FFF2-40B4-BE49-F238E27FC236}">
                <a16:creationId xmlns:a16="http://schemas.microsoft.com/office/drawing/2014/main" id="{0F97C2B1-7390-90AB-14AD-2ABBE90E0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481260"/>
              </p:ext>
            </p:extLst>
          </p:nvPr>
        </p:nvGraphicFramePr>
        <p:xfrm>
          <a:off x="6551875" y="1313617"/>
          <a:ext cx="5448964" cy="2280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3">
            <a:extLst>
              <a:ext uri="{FF2B5EF4-FFF2-40B4-BE49-F238E27FC236}">
                <a16:creationId xmlns:a16="http://schemas.microsoft.com/office/drawing/2014/main" id="{E4E223BA-D323-A6C3-A91C-FB3DB433B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303359"/>
              </p:ext>
            </p:extLst>
          </p:nvPr>
        </p:nvGraphicFramePr>
        <p:xfrm>
          <a:off x="777240" y="4160520"/>
          <a:ext cx="6739128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796A0BE4-2D77-0A16-AE28-CC101F77A5EF}"/>
              </a:ext>
            </a:extLst>
          </p:cNvPr>
          <p:cNvSpPr/>
          <p:nvPr/>
        </p:nvSpPr>
        <p:spPr>
          <a:xfrm rot="16200000">
            <a:off x="-3380175" y="3380170"/>
            <a:ext cx="6858002" cy="97656"/>
          </a:xfrm>
          <a:prstGeom prst="rect">
            <a:avLst/>
          </a:prstGeom>
          <a:solidFill>
            <a:srgbClr val="00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25EAE187-8B1A-FB63-25CE-07B7B602ABC3}"/>
              </a:ext>
            </a:extLst>
          </p:cNvPr>
          <p:cNvSpPr txBox="1"/>
          <p:nvPr/>
        </p:nvSpPr>
        <p:spPr>
          <a:xfrm>
            <a:off x="8275320" y="3959352"/>
            <a:ext cx="8572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Points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clés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CD6A6E6F-0F3F-E55B-4B09-71F38CE0EC9F}"/>
              </a:ext>
            </a:extLst>
          </p:cNvPr>
          <p:cNvSpPr txBox="1"/>
          <p:nvPr/>
        </p:nvSpPr>
        <p:spPr>
          <a:xfrm>
            <a:off x="8177665" y="4224528"/>
            <a:ext cx="3389495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Télé 2025 : 4,1 M MAD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la Télé est un levier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secondaire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en 2025, comparé à 2023 (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11,2 M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Répartition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chaînes 2025 :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stratégie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multi-chaînes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</a:t>
            </a:r>
            <a:r>
              <a:rPr lang="fr-FR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Arryadia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Al </a:t>
            </a:r>
            <a:r>
              <a:rPr lang="fr-FR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Aoula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fr-FR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Telemaroc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2M…) : objectif clair de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diversifier la couverture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plutôt que de concentrer la pression sur une seule chaîne.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Annonceurs Télé 2025 :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 seul annonceur actif.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Opportunité :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marché Télé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peu concurrentiel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(1 seul annonceur) →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opportunité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d’émerger rapidement avec une prise de parole TV bien ciblée.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C41D1443-8DC9-9AB8-E5F0-1BA23602A05D}"/>
              </a:ext>
            </a:extLst>
          </p:cNvPr>
          <p:cNvSpPr/>
          <p:nvPr/>
        </p:nvSpPr>
        <p:spPr>
          <a:xfrm>
            <a:off x="502920" y="231708"/>
            <a:ext cx="8851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 média Télé - Compagnies Aériennes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08595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22180-3B96-9CC0-B7BD-C00936D0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B2C512-9D76-66BF-D7A1-A20C04F9A98A}"/>
              </a:ext>
            </a:extLst>
          </p:cNvPr>
          <p:cNvSpPr txBox="1"/>
          <p:nvPr/>
        </p:nvSpPr>
        <p:spPr>
          <a:xfrm>
            <a:off x="548640" y="671656"/>
            <a:ext cx="39090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sz="1400" dirty="0">
                <a:solidFill>
                  <a:srgbClr val="2563EB"/>
                </a:solidFill>
              </a:rPr>
              <a:t>FY 202</a:t>
            </a:r>
            <a:r>
              <a:rPr lang="fr-FR" sz="1400" dirty="0">
                <a:solidFill>
                  <a:srgbClr val="2563EB"/>
                </a:solidFill>
              </a:rPr>
              <a:t>3</a:t>
            </a:r>
            <a:r>
              <a:rPr sz="1400" dirty="0">
                <a:solidFill>
                  <a:srgbClr val="2563EB"/>
                </a:solidFill>
              </a:rPr>
              <a:t>–2025 | Millions MAD </a:t>
            </a:r>
            <a:r>
              <a:rPr lang="de-DE" sz="1400" dirty="0">
                <a:solidFill>
                  <a:srgbClr val="2563EB"/>
                </a:solidFill>
              </a:rPr>
              <a:t>| Source : Imperium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6E4B43E-095A-176F-DFE9-81BB22CF8E1E}"/>
              </a:ext>
            </a:extLst>
          </p:cNvPr>
          <p:cNvSpPr/>
          <p:nvPr/>
        </p:nvSpPr>
        <p:spPr>
          <a:xfrm>
            <a:off x="548640" y="1097280"/>
            <a:ext cx="6675120" cy="2651760"/>
          </a:xfrm>
          <a:prstGeom prst="roundRect">
            <a:avLst/>
          </a:prstGeom>
          <a:solidFill>
            <a:srgbClr val="F5F8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2C8419E-1838-7DF0-BB31-12A60A35A204}"/>
              </a:ext>
            </a:extLst>
          </p:cNvPr>
          <p:cNvSpPr/>
          <p:nvPr/>
        </p:nvSpPr>
        <p:spPr>
          <a:xfrm>
            <a:off x="7406640" y="1097280"/>
            <a:ext cx="4206240" cy="2651760"/>
          </a:xfrm>
          <a:prstGeom prst="roundRect">
            <a:avLst/>
          </a:prstGeom>
          <a:solidFill>
            <a:srgbClr val="F5F8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990E6-9025-740C-1814-9D02E335D6AA}"/>
              </a:ext>
            </a:extLst>
          </p:cNvPr>
          <p:cNvSpPr/>
          <p:nvPr/>
        </p:nvSpPr>
        <p:spPr>
          <a:xfrm>
            <a:off x="548640" y="3886200"/>
            <a:ext cx="7178040" cy="2514600"/>
          </a:xfrm>
          <a:prstGeom prst="roundRect">
            <a:avLst/>
          </a:prstGeom>
          <a:solidFill>
            <a:srgbClr val="EDF1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544D98D-67E5-6DFE-C51B-C6D97825FA94}"/>
              </a:ext>
            </a:extLst>
          </p:cNvPr>
          <p:cNvSpPr/>
          <p:nvPr/>
        </p:nvSpPr>
        <p:spPr>
          <a:xfrm>
            <a:off x="7955280" y="3886200"/>
            <a:ext cx="3657600" cy="2514600"/>
          </a:xfrm>
          <a:prstGeom prst="roundRect">
            <a:avLst/>
          </a:prstGeom>
          <a:solidFill>
            <a:srgbClr val="EDF1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208817-5C8E-97E4-412A-A99C1B9E9B40}"/>
              </a:ext>
            </a:extLst>
          </p:cNvPr>
          <p:cNvSpPr txBox="1"/>
          <p:nvPr/>
        </p:nvSpPr>
        <p:spPr>
          <a:xfrm>
            <a:off x="777240" y="1216152"/>
            <a:ext cx="17345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Investissements 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PRESSE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8F78E-891F-174F-666E-C5AA9EB52048}"/>
              </a:ext>
            </a:extLst>
          </p:cNvPr>
          <p:cNvSpPr txBox="1"/>
          <p:nvPr/>
        </p:nvSpPr>
        <p:spPr>
          <a:xfrm>
            <a:off x="7635240" y="1199374"/>
            <a:ext cx="20435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Répartition 2025 par support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095EB8-523A-ACB6-114A-30FF32414760}"/>
              </a:ext>
            </a:extLst>
          </p:cNvPr>
          <p:cNvSpPr txBox="1"/>
          <p:nvPr/>
        </p:nvSpPr>
        <p:spPr>
          <a:xfrm>
            <a:off x="777240" y="4005072"/>
            <a:ext cx="20322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Top annonceurs 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(FY 2025)</a:t>
            </a:r>
          </a:p>
        </p:txBody>
      </p:sp>
      <p:graphicFrame>
        <p:nvGraphicFramePr>
          <p:cNvPr id="17" name="Chart 12">
            <a:extLst>
              <a:ext uri="{FF2B5EF4-FFF2-40B4-BE49-F238E27FC236}">
                <a16:creationId xmlns:a16="http://schemas.microsoft.com/office/drawing/2014/main" id="{CCE30600-2E19-2EAD-F467-E3787E171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972048"/>
              </p:ext>
            </p:extLst>
          </p:nvPr>
        </p:nvGraphicFramePr>
        <p:xfrm>
          <a:off x="6551875" y="1313617"/>
          <a:ext cx="5448964" cy="2280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E66EB559-67E3-4623-AA4F-E92273B1F443}"/>
              </a:ext>
            </a:extLst>
          </p:cNvPr>
          <p:cNvSpPr/>
          <p:nvPr/>
        </p:nvSpPr>
        <p:spPr>
          <a:xfrm rot="16200000">
            <a:off x="-3380175" y="3380170"/>
            <a:ext cx="6858002" cy="97656"/>
          </a:xfrm>
          <a:prstGeom prst="rect">
            <a:avLst/>
          </a:prstGeom>
          <a:solidFill>
            <a:srgbClr val="007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Chart 13">
            <a:extLst>
              <a:ext uri="{FF2B5EF4-FFF2-40B4-BE49-F238E27FC236}">
                <a16:creationId xmlns:a16="http://schemas.microsoft.com/office/drawing/2014/main" id="{3DFB2C2B-FE1E-C21A-5514-B1225C930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528154"/>
              </p:ext>
            </p:extLst>
          </p:nvPr>
        </p:nvGraphicFramePr>
        <p:xfrm>
          <a:off x="777240" y="4223322"/>
          <a:ext cx="6710488" cy="2099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80BF67E-86B9-287F-211C-BA09EEECF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330527"/>
              </p:ext>
            </p:extLst>
          </p:nvPr>
        </p:nvGraphicFramePr>
        <p:xfrm>
          <a:off x="868679" y="1313617"/>
          <a:ext cx="5683195" cy="2188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Box 11">
            <a:extLst>
              <a:ext uri="{FF2B5EF4-FFF2-40B4-BE49-F238E27FC236}">
                <a16:creationId xmlns:a16="http://schemas.microsoft.com/office/drawing/2014/main" id="{C062B7D0-A462-7BE6-2637-CD08BC6565D0}"/>
              </a:ext>
            </a:extLst>
          </p:cNvPr>
          <p:cNvSpPr txBox="1"/>
          <p:nvPr/>
        </p:nvSpPr>
        <p:spPr>
          <a:xfrm>
            <a:off x="8275320" y="3959352"/>
            <a:ext cx="8572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Points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clés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6DC4D97B-DDD4-11A7-4D8D-3C8F620A11ED}"/>
              </a:ext>
            </a:extLst>
          </p:cNvPr>
          <p:cNvSpPr txBox="1"/>
          <p:nvPr/>
        </p:nvSpPr>
        <p:spPr>
          <a:xfrm>
            <a:off x="8177665" y="4224528"/>
            <a:ext cx="3237095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PRESSE 2025 : 0,4 M MAD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un levier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très secondaire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dans le secteur (fortement en dessous de 2023 :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1,9 M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Répartition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supports 2025 :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présence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multi-titres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mais dispersée, avec un poids plus fort sur </a:t>
            </a:r>
            <a:r>
              <a:rPr lang="fr-FR" sz="11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Hola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Maroc (~24%)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et </a:t>
            </a:r>
            <a:r>
              <a:rPr lang="fr-FR" sz="11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Nissaa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FR" sz="11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Magh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(~21%).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Annonceurs PRESSE 2025 : 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 annonceurs actifs.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Opportunité :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PRESSE est un levier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peu coûteux</a:t>
            </a:r>
            <a:r>
              <a:rPr lang="fr-F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et utile en </a:t>
            </a:r>
            <a:r>
              <a:rPr lang="fr-F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appui image / ciblage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57707B8B-F045-F08B-391E-1098D61E34B1}"/>
              </a:ext>
            </a:extLst>
          </p:cNvPr>
          <p:cNvSpPr/>
          <p:nvPr/>
        </p:nvSpPr>
        <p:spPr>
          <a:xfrm>
            <a:off x="502920" y="231708"/>
            <a:ext cx="8851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 média PRESSE - Compagnies Aériennes</a:t>
            </a:r>
            <a:endParaRPr lang="en-US" sz="2800" dirty="0"/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D54F0569-B1D2-F40F-8BAA-44ED96177E6A}"/>
              </a:ext>
            </a:extLst>
          </p:cNvPr>
          <p:cNvSpPr txBox="1"/>
          <p:nvPr/>
        </p:nvSpPr>
        <p:spPr>
          <a:xfrm rot="16200000">
            <a:off x="426823" y="1948472"/>
            <a:ext cx="7008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34963"/>
                </a:solidFill>
              </a:defRPr>
            </a:pP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Millions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15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</TotalTime>
  <Words>918</Words>
  <Application>Microsoft Office PowerPoint</Application>
  <PresentationFormat>Grand écran</PresentationFormat>
  <Paragraphs>104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Mohamed Fahmi</dc:creator>
  <cp:lastModifiedBy>mohamed fahmi</cp:lastModifiedBy>
  <cp:revision>24</cp:revision>
  <dcterms:created xsi:type="dcterms:W3CDTF">2026-01-09T14:41:07Z</dcterms:created>
  <dcterms:modified xsi:type="dcterms:W3CDTF">2026-03-05T12:36:34Z</dcterms:modified>
</cp:coreProperties>
</file>